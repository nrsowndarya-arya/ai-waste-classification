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EcoSort AI, an AI-based waste classification system with a web dashboard. It classifies a photo into one of six waste categories and provides disposal guidance. The project was completed as part of the MCA programme at City College, under the guidance of Ms. Chandana Khatavakar.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often do not know which bin to use. EcoSort AI aims to make the decision easier by classifying the item from a photo, showing confidence and offering a tip. It also saves the user's own scans and provides a dashboard.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approaches rely on labels, manual sorting or general searches. EcoSort AI uses the actual photo, provides top predictions and a low-confidence warning, and keeps history for the signed-in user.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has a browser interface, FastAPI server, MobileNetV2 model and SQLite database. The browser sends requests to the API; the API checks authentication, runs inference and saves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SQLite has three main tables: users, sessions and scans. The REST API supports registration, login, prediction, dashboard statistics, history and CSV export. Protected routes require a valid token.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modules are authentication, classification, analytics, history/export, categories guide and model training/evaluation. Together they cover the main user journey and project workflow.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TrashNet provides 3,790 labelled images across six classes. The baseline model used a frozen MobileNetV2 backbone. The improved model used partial fine-tuning, stronger augmentation and class weights.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login, the server validates the image, resizes it to 224 by 224, normalizes it, and runs MobileNetV2. The result is mapped to a bin, recyclability and a tip, then saved to the user's history.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Classify page is where the user uploads an image. The dashboard summarizes activity and charts. History supports export, while Categories explains the six classes and model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records 12 functional test cases as passing. Model accuracy improved from 84.2% to 92.1% on 506 test images. The report also notes that choosing the checkpoint using the same test set may make the estimate optimistic.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model works best for one main item and can struggle with photos unlike the training data. Future work includes more real-world images, multi-object detection, improved security and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EcoSort AI connects a computer vision model to a usable web application. It provides immediate disposal guidance and personal analytics while making uncertainty visible. Thank you; I am happy to answer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F27"/>
        </a:solidFill>
        <a:effectLst/>
      </p:bgPr>
    </p:bg>
    <p:spTree>
      <p:nvGrpSpPr>
        <p:cNvPr id="1" name=""/>
        <p:cNvGrpSpPr/>
        <p:nvPr/>
      </p:nvGrpSpPr>
      <p:grpSpPr/>
      <p:sp>
        <p:nvSpPr>
          <p:cNvPr id="2" name="Oval 1"/>
          <p:cNvSpPr/>
          <p:nvPr/>
        </p:nvSpPr>
        <p:spPr>
          <a:xfrm>
            <a:off x="8823960" y="594360"/>
            <a:ext cx="1920240" cy="1920240"/>
          </a:xfrm>
          <a:prstGeom prst="ellipse">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921240" y="1828800"/>
            <a:ext cx="1325880" cy="1325880"/>
          </a:xfrm>
          <a:prstGeom prst="ellipse">
            <a:avLst/>
          </a:prstGeom>
          <a:solidFill>
            <a:srgbClr val="AFD7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03920" y="3063240"/>
            <a:ext cx="2286000" cy="2286000"/>
          </a:xfrm>
          <a:prstGeom prst="ellipse">
            <a:avLst/>
          </a:prstGeom>
          <a:solidFill>
            <a:srgbClr val="1F5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87000" y="4160520"/>
            <a:ext cx="1143000" cy="1143000"/>
          </a:xfrm>
          <a:prstGeom prst="ellipse">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731520"/>
            <a:ext cx="1554480" cy="310896"/>
          </a:xfrm>
          <a:prstGeom prst="roundRect">
            <a:avLst/>
          </a:prstGeom>
          <a:solidFill>
            <a:srgbClr val="275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754380"/>
            <a:ext cx="1499616" cy="237744"/>
          </a:xfrm>
          <a:prstGeom prst="rect">
            <a:avLst/>
          </a:prstGeom>
          <a:noFill/>
        </p:spPr>
        <p:txBody>
          <a:bodyPr wrap="square" lIns="36576" rIns="36576" tIns="36576" bIns="36576" anchor="ctr">
            <a:spAutoFit/>
          </a:bodyPr>
          <a:lstStyle/>
          <a:p>
            <a:pPr algn="ctr">
              <a:defRPr sz="1000" b="1" i="0">
                <a:solidFill>
                  <a:srgbClr val="AFD775"/>
                </a:solidFill>
                <a:latin typeface="Aptos"/>
              </a:defRPr>
            </a:pPr>
            <a:r>
              <a:t>MCA PROJECT</a:t>
            </a:r>
          </a:p>
        </p:txBody>
      </p:sp>
      <p:sp>
        <p:nvSpPr>
          <p:cNvPr id="8" name="TextBox 7"/>
          <p:cNvSpPr txBox="1"/>
          <p:nvPr/>
        </p:nvSpPr>
        <p:spPr>
          <a:xfrm>
            <a:off x="749808" y="1417320"/>
            <a:ext cx="7315200" cy="1234440"/>
          </a:xfrm>
          <a:prstGeom prst="rect">
            <a:avLst/>
          </a:prstGeom>
          <a:noFill/>
        </p:spPr>
        <p:txBody>
          <a:bodyPr wrap="square" lIns="36576" rIns="36576" tIns="36576" bIns="36576" anchor="t">
            <a:spAutoFit/>
          </a:bodyPr>
          <a:lstStyle/>
          <a:p>
            <a:pPr>
              <a:defRPr sz="4200" b="1" i="0">
                <a:solidFill>
                  <a:srgbClr val="FFFFFF"/>
                </a:solidFill>
                <a:latin typeface="Aptos"/>
              </a:defRPr>
            </a:pPr>
            <a:r>
              <a:t>EcoSort AI</a:t>
            </a:r>
          </a:p>
        </p:txBody>
      </p:sp>
      <p:sp>
        <p:nvSpPr>
          <p:cNvPr id="9" name="TextBox 8"/>
          <p:cNvSpPr txBox="1"/>
          <p:nvPr/>
        </p:nvSpPr>
        <p:spPr>
          <a:xfrm>
            <a:off x="786384" y="2514600"/>
            <a:ext cx="6858000" cy="777240"/>
          </a:xfrm>
          <a:prstGeom prst="rect">
            <a:avLst/>
          </a:prstGeom>
          <a:noFill/>
        </p:spPr>
        <p:txBody>
          <a:bodyPr wrap="square" lIns="36576" rIns="36576" tIns="36576" bIns="36576" anchor="t">
            <a:spAutoFit/>
          </a:bodyPr>
          <a:lstStyle/>
          <a:p>
            <a:pPr>
              <a:defRPr sz="2400" b="1" i="0">
                <a:solidFill>
                  <a:srgbClr val="D8EFDF"/>
                </a:solidFill>
                <a:latin typeface="Aptos"/>
              </a:defRPr>
            </a:pPr>
            <a:r>
              <a:t>An AI-Based Waste Classification</a:t>
            </a:r>
            <a:br/>
            <a:r>
              <a:t>System with a Web Dashboard</a:t>
            </a:r>
          </a:p>
        </p:txBody>
      </p:sp>
      <p:sp>
        <p:nvSpPr>
          <p:cNvPr id="10" name="TextBox 9"/>
          <p:cNvSpPr txBox="1"/>
          <p:nvPr/>
        </p:nvSpPr>
        <p:spPr>
          <a:xfrm>
            <a:off x="804672" y="3886200"/>
            <a:ext cx="6583680" cy="457200"/>
          </a:xfrm>
          <a:prstGeom prst="rect">
            <a:avLst/>
          </a:prstGeom>
          <a:noFill/>
        </p:spPr>
        <p:txBody>
          <a:bodyPr wrap="square" lIns="36576" rIns="36576" tIns="36576" bIns="36576" anchor="t">
            <a:spAutoFit/>
          </a:bodyPr>
          <a:lstStyle/>
          <a:p>
            <a:pPr>
              <a:defRPr sz="1500" b="0" i="0">
                <a:solidFill>
                  <a:srgbClr val="FFFFFF"/>
                </a:solidFill>
                <a:latin typeface="Aptos"/>
              </a:defRPr>
            </a:pPr>
            <a:r>
              <a:t>Project Presentation  |  Academic Year 2025–26</a:t>
            </a:r>
          </a:p>
        </p:txBody>
      </p:sp>
      <p:sp>
        <p:nvSpPr>
          <p:cNvPr id="11" name="TextBox 10"/>
          <p:cNvSpPr txBox="1"/>
          <p:nvPr/>
        </p:nvSpPr>
        <p:spPr>
          <a:xfrm>
            <a:off x="804672" y="4617720"/>
            <a:ext cx="6583680" cy="640080"/>
          </a:xfrm>
          <a:prstGeom prst="rect">
            <a:avLst/>
          </a:prstGeom>
          <a:noFill/>
        </p:spPr>
        <p:txBody>
          <a:bodyPr wrap="square" lIns="36576" rIns="36576" tIns="36576" bIns="36576" anchor="t">
            <a:spAutoFit/>
          </a:bodyPr>
          <a:lstStyle/>
          <a:p>
            <a:pPr>
              <a:defRPr sz="1400" b="0" i="0">
                <a:solidFill>
                  <a:srgbClr val="D5E2DA"/>
                </a:solidFill>
                <a:latin typeface="Aptos"/>
              </a:defRPr>
            </a:pPr>
            <a:r>
              <a:t>Submitted by: NR Sowndarya</a:t>
            </a:r>
            <a:br/>
            <a:r>
              <a:t>MCA • City College, Jayanagar, Bengaluru</a:t>
            </a:r>
          </a:p>
        </p:txBody>
      </p:sp>
      <p:sp>
        <p:nvSpPr>
          <p:cNvPr id="12" name="TextBox 11"/>
          <p:cNvSpPr txBox="1"/>
          <p:nvPr/>
        </p:nvSpPr>
        <p:spPr>
          <a:xfrm>
            <a:off x="804672" y="5715000"/>
            <a:ext cx="6858000" cy="320040"/>
          </a:xfrm>
          <a:prstGeom prst="rect">
            <a:avLst/>
          </a:prstGeom>
          <a:noFill/>
        </p:spPr>
        <p:txBody>
          <a:bodyPr wrap="square" lIns="36576" rIns="36576" tIns="36576" bIns="36576" anchor="t">
            <a:spAutoFit/>
          </a:bodyPr>
          <a:lstStyle/>
          <a:p>
            <a:pPr>
              <a:defRPr sz="1200" b="0" i="0">
                <a:solidFill>
                  <a:srgbClr val="AFD775"/>
                </a:solidFill>
                <a:latin typeface="Aptos"/>
              </a:defRPr>
            </a:pPr>
            <a:r>
              <a:t>Guide: Ms. Chandana Khatavakar, Assistant Professor</a:t>
            </a:r>
          </a:p>
        </p:txBody>
      </p:sp>
      <p:sp>
        <p:nvSpPr>
          <p:cNvPr id="13" name="TextBox 12"/>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D5E2DA"/>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Problem Statement and Objectives</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Why item-specific disposal guidance matters</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02</a:t>
            </a:r>
          </a:p>
        </p:txBody>
      </p:sp>
      <p:sp>
        <p:nvSpPr>
          <p:cNvPr id="6" name="Rounded Rectangle 5"/>
          <p:cNvSpPr/>
          <p:nvPr/>
        </p:nvSpPr>
        <p:spPr>
          <a:xfrm>
            <a:off x="594360" y="1234440"/>
            <a:ext cx="5303520" cy="434340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280160"/>
            <a:ext cx="64008" cy="4251960"/>
          </a:xfrm>
          <a:prstGeom prst="rect">
            <a:avLst/>
          </a:prstGeom>
          <a:solidFill>
            <a:srgbClr val="C45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371600"/>
            <a:ext cx="5029200" cy="347472"/>
          </a:xfrm>
          <a:prstGeom prst="rect">
            <a:avLst/>
          </a:prstGeom>
          <a:noFill/>
        </p:spPr>
        <p:txBody>
          <a:bodyPr wrap="square" lIns="36576" rIns="36576" tIns="36576" bIns="36576" anchor="t">
            <a:spAutoFit/>
          </a:bodyPr>
          <a:lstStyle/>
          <a:p>
            <a:pPr>
              <a:defRPr sz="1800" b="1" i="0">
                <a:solidFill>
                  <a:srgbClr val="142F27"/>
                </a:solidFill>
                <a:latin typeface="Aptos"/>
              </a:defRPr>
            </a:pPr>
            <a:r>
              <a:t>The problem</a:t>
            </a:r>
          </a:p>
        </p:txBody>
      </p:sp>
      <p:sp>
        <p:nvSpPr>
          <p:cNvPr id="9" name="TextBox 8"/>
          <p:cNvSpPr txBox="1"/>
          <p:nvPr/>
        </p:nvSpPr>
        <p:spPr>
          <a:xfrm>
            <a:off x="758952" y="1755648"/>
            <a:ext cx="4992624" cy="3721608"/>
          </a:xfrm>
          <a:prstGeom prst="rect">
            <a:avLst/>
          </a:prstGeom>
          <a:noFill/>
        </p:spPr>
        <p:txBody>
          <a:bodyPr wrap="square" lIns="36576" rIns="36576" tIns="36576" bIns="36576" anchor="t">
            <a:spAutoFit/>
          </a:bodyPr>
          <a:lstStyle/>
          <a:p>
            <a:pPr>
              <a:defRPr sz="1600" b="0" i="0">
                <a:solidFill>
                  <a:srgbClr val="27342F"/>
                </a:solidFill>
                <a:latin typeface="Aptos"/>
              </a:defRPr>
            </a:pPr>
            <a:r>
              <a:t>• People often do not know which bin a waste item belongs in.</a:t>
            </a:r>
            <a:br/>
            <a:br/>
            <a:r>
              <a:t>• Printed labels and generic web searches do not identify the actual item.</a:t>
            </a:r>
            <a:br/>
            <a:br/>
            <a:r>
              <a:t>• Mixed waste contaminates recyclable material and increases sorting effort.</a:t>
            </a:r>
            <a:br/>
            <a:br/>
            <a:r>
              <a:t>• Existing approaches provide little confidence feedback, history or personal analytics.</a:t>
            </a:r>
          </a:p>
        </p:txBody>
      </p:sp>
      <p:sp>
        <p:nvSpPr>
          <p:cNvPr id="10" name="Rounded Rectangle 9"/>
          <p:cNvSpPr/>
          <p:nvPr/>
        </p:nvSpPr>
        <p:spPr>
          <a:xfrm>
            <a:off x="6263640" y="1234440"/>
            <a:ext cx="5303520" cy="434340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280160"/>
            <a:ext cx="64008" cy="425196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1" y="1371600"/>
            <a:ext cx="5029200" cy="347472"/>
          </a:xfrm>
          <a:prstGeom prst="rect">
            <a:avLst/>
          </a:prstGeom>
          <a:noFill/>
        </p:spPr>
        <p:txBody>
          <a:bodyPr wrap="square" lIns="36576" rIns="36576" tIns="36576" bIns="36576" anchor="t">
            <a:spAutoFit/>
          </a:bodyPr>
          <a:lstStyle/>
          <a:p>
            <a:pPr>
              <a:defRPr sz="1800" b="1" i="0">
                <a:solidFill>
                  <a:srgbClr val="142F27"/>
                </a:solidFill>
                <a:latin typeface="Aptos"/>
              </a:defRPr>
            </a:pPr>
            <a:r>
              <a:t>Project objectives</a:t>
            </a:r>
          </a:p>
        </p:txBody>
      </p:sp>
      <p:sp>
        <p:nvSpPr>
          <p:cNvPr id="13" name="TextBox 12"/>
          <p:cNvSpPr txBox="1"/>
          <p:nvPr/>
        </p:nvSpPr>
        <p:spPr>
          <a:xfrm>
            <a:off x="6428231" y="1755648"/>
            <a:ext cx="4992624" cy="3721608"/>
          </a:xfrm>
          <a:prstGeom prst="rect">
            <a:avLst/>
          </a:prstGeom>
          <a:noFill/>
        </p:spPr>
        <p:txBody>
          <a:bodyPr wrap="square" lIns="36576" rIns="36576" tIns="36576" bIns="36576" anchor="t">
            <a:spAutoFit/>
          </a:bodyPr>
          <a:lstStyle/>
          <a:p>
            <a:pPr>
              <a:defRPr sz="1600" b="0" i="0">
                <a:solidFill>
                  <a:srgbClr val="27342F"/>
                </a:solidFill>
                <a:latin typeface="Aptos"/>
              </a:defRPr>
            </a:pPr>
            <a:r>
              <a:t>• Classify images into six waste categories with a target above 90% accuracy.</a:t>
            </a:r>
            <a:br/>
            <a:br/>
            <a:r>
              <a:t>• Return category, confidence, top-3 predictions, bin and disposal tip.</a:t>
            </a:r>
            <a:br/>
            <a:br/>
            <a:r>
              <a:t>• Provide secure registration, login and private scan history.</a:t>
            </a:r>
            <a:br/>
            <a:br/>
            <a:r>
              <a:t>• Show dashboard analytics, Eco Level and CSV export.</a:t>
            </a:r>
            <a:br/>
            <a:br/>
            <a:r>
              <a:t>• Warn users when prediction confidence is below 60%.</a:t>
            </a:r>
          </a:p>
        </p:txBody>
      </p:sp>
      <p:sp>
        <p:nvSpPr>
          <p:cNvPr id="14" name="Rounded Rectangle 13"/>
          <p:cNvSpPr/>
          <p:nvPr/>
        </p:nvSpPr>
        <p:spPr>
          <a:xfrm>
            <a:off x="777240" y="5806440"/>
            <a:ext cx="205740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829300"/>
            <a:ext cx="200253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IMAGE → GUIDANCE</a:t>
            </a:r>
          </a:p>
        </p:txBody>
      </p:sp>
      <p:sp>
        <p:nvSpPr>
          <p:cNvPr id="16" name="Rounded Rectangle 15"/>
          <p:cNvSpPr/>
          <p:nvPr/>
        </p:nvSpPr>
        <p:spPr>
          <a:xfrm>
            <a:off x="2971800" y="5806440"/>
            <a:ext cx="205740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99232" y="5829300"/>
            <a:ext cx="200253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MODEL CONFIDENCE</a:t>
            </a:r>
          </a:p>
        </p:txBody>
      </p:sp>
      <p:sp>
        <p:nvSpPr>
          <p:cNvPr id="18" name="Rounded Rectangle 17"/>
          <p:cNvSpPr/>
          <p:nvPr/>
        </p:nvSpPr>
        <p:spPr>
          <a:xfrm>
            <a:off x="5166360" y="5806440"/>
            <a:ext cx="205740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3792" y="5829300"/>
            <a:ext cx="200253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USER HISTORY</a:t>
            </a:r>
          </a:p>
        </p:txBody>
      </p:sp>
      <p:sp>
        <p:nvSpPr>
          <p:cNvPr id="20" name="Rounded Rectangle 19"/>
          <p:cNvSpPr/>
          <p:nvPr/>
        </p:nvSpPr>
        <p:spPr>
          <a:xfrm>
            <a:off x="7360920" y="5806440"/>
            <a:ext cx="205740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5829300"/>
            <a:ext cx="200253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Existing System and Proposed Solution</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From generic guidance to image-based classification</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03</a:t>
            </a:r>
          </a:p>
        </p:txBody>
      </p:sp>
      <p:sp>
        <p:nvSpPr>
          <p:cNvPr id="6" name="Rounded Rectangle 5"/>
          <p:cNvSpPr/>
          <p:nvPr/>
        </p:nvSpPr>
        <p:spPr>
          <a:xfrm>
            <a:off x="594360" y="1234440"/>
            <a:ext cx="5349240" cy="438912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280160"/>
            <a:ext cx="64008" cy="4297680"/>
          </a:xfrm>
          <a:prstGeom prst="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371600"/>
            <a:ext cx="5074920" cy="347472"/>
          </a:xfrm>
          <a:prstGeom prst="rect">
            <a:avLst/>
          </a:prstGeom>
          <a:noFill/>
        </p:spPr>
        <p:txBody>
          <a:bodyPr wrap="square" lIns="36576" rIns="36576" tIns="36576" bIns="36576" anchor="t">
            <a:spAutoFit/>
          </a:bodyPr>
          <a:lstStyle/>
          <a:p>
            <a:pPr>
              <a:defRPr sz="1700" b="1" i="0">
                <a:solidFill>
                  <a:srgbClr val="142F27"/>
                </a:solidFill>
                <a:latin typeface="Aptos"/>
              </a:defRPr>
            </a:pPr>
            <a:r>
              <a:t>Existing approaches</a:t>
            </a:r>
          </a:p>
        </p:txBody>
      </p:sp>
      <p:sp>
        <p:nvSpPr>
          <p:cNvPr id="9" name="TextBox 8"/>
          <p:cNvSpPr txBox="1"/>
          <p:nvPr/>
        </p:nvSpPr>
        <p:spPr>
          <a:xfrm>
            <a:off x="758952" y="1755648"/>
            <a:ext cx="5038344" cy="3767328"/>
          </a:xfrm>
          <a:prstGeom prst="rect">
            <a:avLst/>
          </a:prstGeom>
          <a:noFill/>
        </p:spPr>
        <p:txBody>
          <a:bodyPr wrap="square" lIns="36576" rIns="36576" tIns="36576" bIns="36576" anchor="t">
            <a:spAutoFit/>
          </a:bodyPr>
          <a:lstStyle/>
          <a:p>
            <a:pPr>
              <a:defRPr sz="1500" b="0" i="0">
                <a:solidFill>
                  <a:srgbClr val="27342F"/>
                </a:solidFill>
                <a:latin typeface="Aptos"/>
              </a:defRPr>
            </a:pPr>
            <a:r>
              <a:t>Printed guides and bin labels</a:t>
            </a:r>
            <a:br/>
            <a:r>
              <a:t>Manual sorting after collection</a:t>
            </a:r>
            <a:br/>
            <a:r>
              <a:t>General web searches or chatbots</a:t>
            </a:r>
            <a:br/>
            <a:br/>
            <a:r>
              <a:t>Key gaps:</a:t>
            </a:r>
            <a:br/>
            <a:r>
              <a:t>• No instant item-specific answer</a:t>
            </a:r>
            <a:br/>
            <a:r>
              <a:t>• No reliability/confidence feedback</a:t>
            </a:r>
            <a:br/>
            <a:r>
              <a:t>• No per-user scan history or analytics</a:t>
            </a:r>
          </a:p>
        </p:txBody>
      </p:sp>
      <p:sp>
        <p:nvSpPr>
          <p:cNvPr id="10" name="Rounded Rectangle 9"/>
          <p:cNvSpPr/>
          <p:nvPr/>
        </p:nvSpPr>
        <p:spPr>
          <a:xfrm>
            <a:off x="6263640" y="1234440"/>
            <a:ext cx="5349240" cy="438912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280160"/>
            <a:ext cx="64008" cy="429768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1" y="1371600"/>
            <a:ext cx="5074920" cy="347472"/>
          </a:xfrm>
          <a:prstGeom prst="rect">
            <a:avLst/>
          </a:prstGeom>
          <a:noFill/>
        </p:spPr>
        <p:txBody>
          <a:bodyPr wrap="square" lIns="36576" rIns="36576" tIns="36576" bIns="36576" anchor="t">
            <a:spAutoFit/>
          </a:bodyPr>
          <a:lstStyle/>
          <a:p>
            <a:pPr>
              <a:defRPr sz="1700" b="1" i="0">
                <a:solidFill>
                  <a:srgbClr val="142F27"/>
                </a:solidFill>
                <a:latin typeface="Aptos"/>
              </a:defRPr>
            </a:pPr>
            <a:r>
              <a:t>EcoSort AI</a:t>
            </a:r>
          </a:p>
        </p:txBody>
      </p:sp>
      <p:sp>
        <p:nvSpPr>
          <p:cNvPr id="13" name="TextBox 12"/>
          <p:cNvSpPr txBox="1"/>
          <p:nvPr/>
        </p:nvSpPr>
        <p:spPr>
          <a:xfrm>
            <a:off x="6428231" y="1755648"/>
            <a:ext cx="5038344" cy="3767328"/>
          </a:xfrm>
          <a:prstGeom prst="rect">
            <a:avLst/>
          </a:prstGeom>
          <a:noFill/>
        </p:spPr>
        <p:txBody>
          <a:bodyPr wrap="square" lIns="36576" rIns="36576" tIns="36576" bIns="36576" anchor="t">
            <a:spAutoFit/>
          </a:bodyPr>
          <a:lstStyle/>
          <a:p>
            <a:pPr>
              <a:defRPr sz="1500" b="0" i="0">
                <a:solidFill>
                  <a:srgbClr val="27342F"/>
                </a:solidFill>
                <a:latin typeface="Aptos"/>
              </a:defRPr>
            </a:pPr>
            <a:r>
              <a:t>Upload a photo of one waste item</a:t>
            </a:r>
            <a:br/>
            <a:r>
              <a:t>MobileNetV2 predicts one of six classes</a:t>
            </a:r>
            <a:br/>
            <a:r>
              <a:t>Result maps to bin, recyclability and disposal tip</a:t>
            </a:r>
            <a:br/>
            <a:r>
              <a:t>Top-3 probabilities make the prediction more transparent</a:t>
            </a:r>
            <a:br/>
            <a:r>
              <a:t>Low-confidence warning below 60%</a:t>
            </a:r>
            <a:br/>
            <a:r>
              <a:t>Saved scans power the dashboard and history</a:t>
            </a:r>
          </a:p>
        </p:txBody>
      </p:sp>
      <p:cxnSp>
        <p:nvCxnSpPr>
          <p:cNvPr id="14" name="Connector 13"/>
          <p:cNvCxnSpPr/>
          <p:nvPr/>
        </p:nvCxnSpPr>
        <p:spPr>
          <a:xfrm>
            <a:off x="5623560" y="3337560"/>
            <a:ext cx="548640" cy="0"/>
          </a:xfrm>
          <a:prstGeom prst="line">
            <a:avLst/>
          </a:prstGeom>
          <a:ln w="25400">
            <a:solidFill>
              <a:srgbClr val="237E5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1520" y="5897880"/>
            <a:ext cx="10607040" cy="320040"/>
          </a:xfrm>
          <a:prstGeom prst="rect">
            <a:avLst/>
          </a:prstGeom>
          <a:noFill/>
        </p:spPr>
        <p:txBody>
          <a:bodyPr wrap="square" lIns="36576" rIns="36576" tIns="36576" bIns="36576" anchor="t">
            <a:spAutoFit/>
          </a:bodyPr>
          <a:lstStyle/>
          <a:p>
            <a:pPr algn="ctr">
              <a:defRPr sz="1300" b="0" i="1">
                <a:solidFill>
                  <a:srgbClr val="61736A"/>
                </a:solidFill>
                <a:latin typeface="Aptos"/>
              </a:defRPr>
            </a:pPr>
            <a:r>
              <a:t>Designed as a practical, browser-based prototype using free and open-source software.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Architecture and Technology Stack</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Three-tier client-server design</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04</a:t>
            </a:r>
          </a:p>
        </p:txBody>
      </p:sp>
      <p:sp>
        <p:nvSpPr>
          <p:cNvPr id="6" name="Rounded Rectangle 5"/>
          <p:cNvSpPr/>
          <p:nvPr/>
        </p:nvSpPr>
        <p:spPr>
          <a:xfrm>
            <a:off x="640080" y="1417320"/>
            <a:ext cx="2743200" cy="914400"/>
          </a:xfrm>
          <a:prstGeom prst="roundRect">
            <a:avLst/>
          </a:prstGeom>
          <a:solidFill>
            <a:srgbClr val="DDF1E4"/>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453896"/>
            <a:ext cx="2615184" cy="841248"/>
          </a:xfrm>
          <a:prstGeom prst="rect">
            <a:avLst/>
          </a:prstGeom>
          <a:noFill/>
        </p:spPr>
        <p:txBody>
          <a:bodyPr wrap="square" lIns="36576" rIns="36576" tIns="36576" bIns="36576" anchor="ctr">
            <a:spAutoFit/>
          </a:bodyPr>
          <a:lstStyle/>
          <a:p>
            <a:pPr algn="ctr">
              <a:defRPr sz="1600" b="1" i="0">
                <a:solidFill>
                  <a:srgbClr val="142F27"/>
                </a:solidFill>
                <a:latin typeface="Aptos"/>
              </a:defRPr>
            </a:pPr>
            <a:r>
              <a:t>Browser UI</a:t>
            </a:r>
            <a:br/>
            <a:r>
              <a:t>HTML • CSS • JavaScript</a:t>
            </a:r>
          </a:p>
        </p:txBody>
      </p:sp>
      <p:sp>
        <p:nvSpPr>
          <p:cNvPr id="8" name="Rounded Rectangle 7"/>
          <p:cNvSpPr/>
          <p:nvPr/>
        </p:nvSpPr>
        <p:spPr>
          <a:xfrm>
            <a:off x="4663440" y="1417320"/>
            <a:ext cx="2743200" cy="914400"/>
          </a:xfrm>
          <a:prstGeom prst="roundRect">
            <a:avLst/>
          </a:prstGeom>
          <a:solidFill>
            <a:srgbClr val="DCEBF7"/>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453896"/>
            <a:ext cx="2615184" cy="841248"/>
          </a:xfrm>
          <a:prstGeom prst="rect">
            <a:avLst/>
          </a:prstGeom>
          <a:noFill/>
        </p:spPr>
        <p:txBody>
          <a:bodyPr wrap="square" lIns="36576" rIns="36576" tIns="36576" bIns="36576" anchor="ctr">
            <a:spAutoFit/>
          </a:bodyPr>
          <a:lstStyle/>
          <a:p>
            <a:pPr algn="ctr">
              <a:defRPr sz="1600" b="1" i="0">
                <a:solidFill>
                  <a:srgbClr val="142F27"/>
                </a:solidFill>
                <a:latin typeface="Aptos"/>
              </a:defRPr>
            </a:pPr>
            <a:r>
              <a:t>FastAPI REST API</a:t>
            </a:r>
            <a:br/>
            <a:r>
              <a:t>Authentication • Validation</a:t>
            </a:r>
          </a:p>
        </p:txBody>
      </p:sp>
      <p:sp>
        <p:nvSpPr>
          <p:cNvPr id="10" name="Rounded Rectangle 9"/>
          <p:cNvSpPr/>
          <p:nvPr/>
        </p:nvSpPr>
        <p:spPr>
          <a:xfrm>
            <a:off x="8686800" y="1417320"/>
            <a:ext cx="2743200" cy="914400"/>
          </a:xfrm>
          <a:prstGeom prst="roundRect">
            <a:avLst/>
          </a:prstGeom>
          <a:solidFill>
            <a:srgbClr val="F7EBD3"/>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50808" y="1453896"/>
            <a:ext cx="2615184" cy="841248"/>
          </a:xfrm>
          <a:prstGeom prst="rect">
            <a:avLst/>
          </a:prstGeom>
          <a:noFill/>
        </p:spPr>
        <p:txBody>
          <a:bodyPr wrap="square" lIns="36576" rIns="36576" tIns="36576" bIns="36576" anchor="ctr">
            <a:spAutoFit/>
          </a:bodyPr>
          <a:lstStyle/>
          <a:p>
            <a:pPr algn="ctr">
              <a:defRPr sz="1600" b="1" i="0">
                <a:solidFill>
                  <a:srgbClr val="142F27"/>
                </a:solidFill>
                <a:latin typeface="Aptos"/>
              </a:defRPr>
            </a:pPr>
            <a:r>
              <a:t>SQLite Database</a:t>
            </a:r>
            <a:br/>
            <a:r>
              <a:t>Users • Sessions • Scans</a:t>
            </a:r>
          </a:p>
        </p:txBody>
      </p:sp>
      <p:cxnSp>
        <p:nvCxnSpPr>
          <p:cNvPr id="12" name="Connector 11"/>
          <p:cNvCxnSpPr/>
          <p:nvPr/>
        </p:nvCxnSpPr>
        <p:spPr>
          <a:xfrm>
            <a:off x="3429000" y="1874519"/>
            <a:ext cx="1143000" cy="0"/>
          </a:xfrm>
          <a:prstGeom prst="line">
            <a:avLst/>
          </a:prstGeom>
          <a:ln w="25400">
            <a:solidFill>
              <a:srgbClr val="237E5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52360" y="1874519"/>
            <a:ext cx="1143000" cy="0"/>
          </a:xfrm>
          <a:prstGeom prst="line">
            <a:avLst/>
          </a:prstGeom>
          <a:ln w="25400">
            <a:solidFill>
              <a:srgbClr val="237E53"/>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663440" y="3063240"/>
            <a:ext cx="2743200" cy="914400"/>
          </a:xfrm>
          <a:prstGeom prst="roundRect">
            <a:avLst/>
          </a:prstGeom>
          <a:solidFill>
            <a:srgbClr val="E0EFDB"/>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3099816"/>
            <a:ext cx="2615184" cy="841248"/>
          </a:xfrm>
          <a:prstGeom prst="rect">
            <a:avLst/>
          </a:prstGeom>
          <a:noFill/>
        </p:spPr>
        <p:txBody>
          <a:bodyPr wrap="square" lIns="36576" rIns="36576" tIns="36576" bIns="36576" anchor="ctr">
            <a:spAutoFit/>
          </a:bodyPr>
          <a:lstStyle/>
          <a:p>
            <a:pPr algn="ctr">
              <a:defRPr sz="1600" b="1" i="0">
                <a:solidFill>
                  <a:srgbClr val="142F27"/>
                </a:solidFill>
                <a:latin typeface="Aptos"/>
              </a:defRPr>
            </a:pPr>
            <a:r>
              <a:t>MobileNetV2</a:t>
            </a:r>
            <a:br/>
            <a:r>
              <a:t>Image classification</a:t>
            </a:r>
          </a:p>
        </p:txBody>
      </p:sp>
      <p:cxnSp>
        <p:nvCxnSpPr>
          <p:cNvPr id="16" name="Connector 15"/>
          <p:cNvCxnSpPr/>
          <p:nvPr/>
        </p:nvCxnSpPr>
        <p:spPr>
          <a:xfrm>
            <a:off x="6035040" y="2377440"/>
            <a:ext cx="0" cy="594360"/>
          </a:xfrm>
          <a:prstGeom prst="line">
            <a:avLst/>
          </a:prstGeom>
          <a:ln w="25400">
            <a:solidFill>
              <a:srgbClr val="237E5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 y="4572000"/>
            <a:ext cx="3337560" cy="114300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617720"/>
            <a:ext cx="64008" cy="105156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709160"/>
            <a:ext cx="3063240" cy="347472"/>
          </a:xfrm>
          <a:prstGeom prst="rect">
            <a:avLst/>
          </a:prstGeom>
          <a:noFill/>
        </p:spPr>
        <p:txBody>
          <a:bodyPr wrap="square" lIns="36576" rIns="36576" tIns="36576" bIns="36576" anchor="t">
            <a:spAutoFit/>
          </a:bodyPr>
          <a:lstStyle/>
          <a:p>
            <a:pPr>
              <a:defRPr sz="1400" b="1" i="0">
                <a:solidFill>
                  <a:srgbClr val="142F27"/>
                </a:solidFill>
                <a:latin typeface="Aptos"/>
              </a:defRPr>
            </a:pPr>
            <a:r>
              <a:t>Frontend</a:t>
            </a:r>
          </a:p>
        </p:txBody>
      </p:sp>
      <p:sp>
        <p:nvSpPr>
          <p:cNvPr id="20" name="TextBox 19"/>
          <p:cNvSpPr txBox="1"/>
          <p:nvPr/>
        </p:nvSpPr>
        <p:spPr>
          <a:xfrm>
            <a:off x="896112" y="5093208"/>
            <a:ext cx="3026664" cy="521207"/>
          </a:xfrm>
          <a:prstGeom prst="rect">
            <a:avLst/>
          </a:prstGeom>
          <a:noFill/>
        </p:spPr>
        <p:txBody>
          <a:bodyPr wrap="square" lIns="36576" rIns="36576" tIns="36576" bIns="36576" anchor="t">
            <a:spAutoFit/>
          </a:bodyPr>
          <a:lstStyle/>
          <a:p>
            <a:pPr>
              <a:defRPr sz="1100" b="0" i="0">
                <a:solidFill>
                  <a:srgbClr val="27342F"/>
                </a:solidFill>
                <a:latin typeface="Aptos"/>
              </a:defRPr>
            </a:pPr>
            <a:r>
              <a:t>Responsive interface and Chart.js visuals</a:t>
            </a:r>
          </a:p>
        </p:txBody>
      </p:sp>
      <p:sp>
        <p:nvSpPr>
          <p:cNvPr id="21" name="Rounded Rectangle 20"/>
          <p:cNvSpPr/>
          <p:nvPr/>
        </p:nvSpPr>
        <p:spPr>
          <a:xfrm>
            <a:off x="4434840" y="4572000"/>
            <a:ext cx="3337560" cy="114300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4617720"/>
            <a:ext cx="64008" cy="105156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9431" y="4709160"/>
            <a:ext cx="3063240" cy="347472"/>
          </a:xfrm>
          <a:prstGeom prst="rect">
            <a:avLst/>
          </a:prstGeom>
          <a:noFill/>
        </p:spPr>
        <p:txBody>
          <a:bodyPr wrap="square" lIns="36576" rIns="36576" tIns="36576" bIns="36576" anchor="t">
            <a:spAutoFit/>
          </a:bodyPr>
          <a:lstStyle/>
          <a:p>
            <a:pPr>
              <a:defRPr sz="1400" b="1" i="0">
                <a:solidFill>
                  <a:srgbClr val="142F27"/>
                </a:solidFill>
                <a:latin typeface="Aptos"/>
              </a:defRPr>
            </a:pPr>
            <a:r>
              <a:t>Backend</a:t>
            </a:r>
          </a:p>
        </p:txBody>
      </p:sp>
      <p:sp>
        <p:nvSpPr>
          <p:cNvPr id="24" name="TextBox 23"/>
          <p:cNvSpPr txBox="1"/>
          <p:nvPr/>
        </p:nvSpPr>
        <p:spPr>
          <a:xfrm>
            <a:off x="4599431" y="5093208"/>
            <a:ext cx="3026664" cy="521207"/>
          </a:xfrm>
          <a:prstGeom prst="rect">
            <a:avLst/>
          </a:prstGeom>
          <a:noFill/>
        </p:spPr>
        <p:txBody>
          <a:bodyPr wrap="square" lIns="36576" rIns="36576" tIns="36576" bIns="36576" anchor="t">
            <a:spAutoFit/>
          </a:bodyPr>
          <a:lstStyle/>
          <a:p>
            <a:pPr>
              <a:defRPr sz="1100" b="0" i="0">
                <a:solidFill>
                  <a:srgbClr val="27342F"/>
                </a:solidFill>
                <a:latin typeface="Aptos"/>
              </a:defRPr>
            </a:pPr>
            <a:r>
              <a:t>Python • FastAPI • Pillow • Uvicorn</a:t>
            </a:r>
          </a:p>
        </p:txBody>
      </p:sp>
      <p:sp>
        <p:nvSpPr>
          <p:cNvPr id="25" name="Rounded Rectangle 24"/>
          <p:cNvSpPr/>
          <p:nvPr/>
        </p:nvSpPr>
        <p:spPr>
          <a:xfrm>
            <a:off x="8138160" y="4572000"/>
            <a:ext cx="3337560" cy="114300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4617720"/>
            <a:ext cx="64008" cy="105156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2752" y="4709160"/>
            <a:ext cx="3063240" cy="347472"/>
          </a:xfrm>
          <a:prstGeom prst="rect">
            <a:avLst/>
          </a:prstGeom>
          <a:noFill/>
        </p:spPr>
        <p:txBody>
          <a:bodyPr wrap="square" lIns="36576" rIns="36576" tIns="36576" bIns="36576" anchor="t">
            <a:spAutoFit/>
          </a:bodyPr>
          <a:lstStyle/>
          <a:p>
            <a:pPr>
              <a:defRPr sz="1400" b="1" i="0">
                <a:solidFill>
                  <a:srgbClr val="142F27"/>
                </a:solidFill>
                <a:latin typeface="Aptos"/>
              </a:defRPr>
            </a:pPr>
            <a:r>
              <a:t>ML &amp; evaluation</a:t>
            </a:r>
          </a:p>
        </p:txBody>
      </p:sp>
      <p:sp>
        <p:nvSpPr>
          <p:cNvPr id="28" name="TextBox 27"/>
          <p:cNvSpPr txBox="1"/>
          <p:nvPr/>
        </p:nvSpPr>
        <p:spPr>
          <a:xfrm>
            <a:off x="8302752" y="5093208"/>
            <a:ext cx="3026664" cy="521207"/>
          </a:xfrm>
          <a:prstGeom prst="rect">
            <a:avLst/>
          </a:prstGeom>
          <a:noFill/>
        </p:spPr>
        <p:txBody>
          <a:bodyPr wrap="square" lIns="36576" rIns="36576" tIns="36576" bIns="36576" anchor="t">
            <a:spAutoFit/>
          </a:bodyPr>
          <a:lstStyle/>
          <a:p>
            <a:pPr>
              <a:defRPr sz="1100" b="0" i="0">
                <a:solidFill>
                  <a:srgbClr val="27342F"/>
                </a:solidFill>
                <a:latin typeface="Aptos"/>
              </a:defRPr>
            </a:pPr>
            <a:r>
              <a:t>PyTorch • torchvision • scikit-learn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Database Design and API</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SQLite persistence with protected REST endpoints</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05</a:t>
            </a:r>
          </a:p>
        </p:txBody>
      </p:sp>
      <p:sp>
        <p:nvSpPr>
          <p:cNvPr id="6" name="Rounded Rectangle 5"/>
          <p:cNvSpPr/>
          <p:nvPr/>
        </p:nvSpPr>
        <p:spPr>
          <a:xfrm>
            <a:off x="594360" y="1234440"/>
            <a:ext cx="5257800" cy="45262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280160"/>
            <a:ext cx="64008" cy="443484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371600"/>
            <a:ext cx="49834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Database tables</a:t>
            </a:r>
          </a:p>
        </p:txBody>
      </p:sp>
      <p:sp>
        <p:nvSpPr>
          <p:cNvPr id="9" name="TextBox 8"/>
          <p:cNvSpPr txBox="1"/>
          <p:nvPr/>
        </p:nvSpPr>
        <p:spPr>
          <a:xfrm>
            <a:off x="758952" y="1755648"/>
            <a:ext cx="4946904" cy="3904488"/>
          </a:xfrm>
          <a:prstGeom prst="rect">
            <a:avLst/>
          </a:prstGeom>
          <a:noFill/>
        </p:spPr>
        <p:txBody>
          <a:bodyPr wrap="square" lIns="36576" rIns="36576" tIns="36576" bIns="36576" anchor="t">
            <a:spAutoFit/>
          </a:bodyPr>
          <a:lstStyle/>
          <a:p>
            <a:pPr>
              <a:defRPr sz="1300" b="0" i="0">
                <a:solidFill>
                  <a:srgbClr val="27342F"/>
                </a:solidFill>
                <a:latin typeface="Aptos"/>
              </a:defRPr>
            </a:pPr>
            <a:r>
              <a:t>USERS</a:t>
            </a:r>
            <a:br/>
            <a:r>
              <a:t>id • name • unique email • password salt • password hash</a:t>
            </a:r>
            <a:br/>
            <a:br/>
            <a:r>
              <a:t>SESSIONS</a:t>
            </a:r>
            <a:br/>
            <a:r>
              <a:t>token • user_id • created timestamp</a:t>
            </a:r>
            <a:br/>
            <a:br/>
            <a:r>
              <a:t>SCANS</a:t>
            </a:r>
            <a:br/>
            <a:r>
              <a:t>id • user_id • timestamp • predicted label • confidence • filename</a:t>
            </a:r>
            <a:br/>
            <a:br/>
            <a:r>
              <a:t>Sessions and scans are linked to users by user_id. Uploaded image files themselves are not stored.</a:t>
            </a:r>
          </a:p>
        </p:txBody>
      </p:sp>
      <p:sp>
        <p:nvSpPr>
          <p:cNvPr id="10" name="Rounded Rectangle 9"/>
          <p:cNvSpPr/>
          <p:nvPr/>
        </p:nvSpPr>
        <p:spPr>
          <a:xfrm>
            <a:off x="6263640" y="1234440"/>
            <a:ext cx="5303520" cy="45262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280160"/>
            <a:ext cx="64008" cy="4434840"/>
          </a:xfrm>
          <a:prstGeom prst="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1" y="1371600"/>
            <a:ext cx="502920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Main API endpoints</a:t>
            </a:r>
          </a:p>
        </p:txBody>
      </p:sp>
      <p:sp>
        <p:nvSpPr>
          <p:cNvPr id="13" name="TextBox 12"/>
          <p:cNvSpPr txBox="1"/>
          <p:nvPr/>
        </p:nvSpPr>
        <p:spPr>
          <a:xfrm>
            <a:off x="6428231" y="1755648"/>
            <a:ext cx="4992624" cy="3904488"/>
          </a:xfrm>
          <a:prstGeom prst="rect">
            <a:avLst/>
          </a:prstGeom>
          <a:noFill/>
        </p:spPr>
        <p:txBody>
          <a:bodyPr wrap="square" lIns="36576" rIns="36576" tIns="36576" bIns="36576" anchor="t">
            <a:spAutoFit/>
          </a:bodyPr>
          <a:lstStyle/>
          <a:p>
            <a:pPr>
              <a:defRPr sz="1300" b="0" i="0">
                <a:solidFill>
                  <a:srgbClr val="27342F"/>
                </a:solidFill>
                <a:latin typeface="Aptos"/>
              </a:defRPr>
            </a:pPr>
            <a:r>
              <a:t>POST  /register  — create account</a:t>
            </a:r>
            <a:br/>
            <a:r>
              <a:t>POST  /login  — authenticate user</a:t>
            </a:r>
            <a:br/>
            <a:r>
              <a:t>GET   /me  — current user</a:t>
            </a:r>
            <a:br/>
            <a:r>
              <a:t>POST  /predict  — classify and save a scan</a:t>
            </a:r>
            <a:br/>
            <a:r>
              <a:t>GET   /stats  — dashboard metrics</a:t>
            </a:r>
            <a:br/>
            <a:r>
              <a:t>GET   /history  — latest 50 scans</a:t>
            </a:r>
            <a:br/>
            <a:r>
              <a:t>GET   /export  — download history as CSV</a:t>
            </a:r>
            <a:br/>
            <a:br/>
            <a:r>
              <a:t>Protected routes require an Authorization: Bearer token. FastAPI provides interactive docs at /docs.</a:t>
            </a:r>
          </a:p>
        </p:txBody>
      </p:sp>
      <p:sp>
        <p:nvSpPr>
          <p:cNvPr id="14" name="TextBox 13"/>
          <p:cNvSpPr txBox="1"/>
          <p:nvPr/>
        </p:nvSpPr>
        <p:spPr>
          <a:xfrm>
            <a:off x="777240" y="5989320"/>
            <a:ext cx="10515600" cy="228600"/>
          </a:xfrm>
          <a:prstGeom prst="rect">
            <a:avLst/>
          </a:prstGeom>
          <a:noFill/>
        </p:spPr>
        <p:txBody>
          <a:bodyPr wrap="square" lIns="36576" rIns="36576" tIns="36576" bIns="36576" anchor="t">
            <a:spAutoFit/>
          </a:bodyPr>
          <a:lstStyle/>
          <a:p>
            <a:pPr>
              <a:defRPr sz="1100" b="0" i="1">
                <a:solidFill>
                  <a:srgbClr val="61736A"/>
                </a:solidFill>
                <a:latin typeface="Aptos"/>
              </a:defRPr>
            </a:pPr>
            <a:r>
              <a:t>Security: PBKDF2-HMAC-SHA256 password hashing with a random per-user salt and token-based access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Core Application Modules</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Eight functions connected in one web application</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06</a:t>
            </a:r>
          </a:p>
        </p:txBody>
      </p:sp>
      <p:sp>
        <p:nvSpPr>
          <p:cNvPr id="6" name="Rounded Rectangle 5"/>
          <p:cNvSpPr/>
          <p:nvPr/>
        </p:nvSpPr>
        <p:spPr>
          <a:xfrm>
            <a:off x="594360" y="1280160"/>
            <a:ext cx="3429000" cy="15544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325880"/>
            <a:ext cx="64008" cy="1463039"/>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417319"/>
            <a:ext cx="31546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1. Authentication</a:t>
            </a:r>
          </a:p>
        </p:txBody>
      </p:sp>
      <p:sp>
        <p:nvSpPr>
          <p:cNvPr id="9" name="TextBox 8"/>
          <p:cNvSpPr txBox="1"/>
          <p:nvPr/>
        </p:nvSpPr>
        <p:spPr>
          <a:xfrm>
            <a:off x="758952" y="1801367"/>
            <a:ext cx="3118104" cy="932688"/>
          </a:xfrm>
          <a:prstGeom prst="rect">
            <a:avLst/>
          </a:prstGeom>
          <a:noFill/>
        </p:spPr>
        <p:txBody>
          <a:bodyPr wrap="square" lIns="36576" rIns="36576" tIns="36576" bIns="36576" anchor="t">
            <a:spAutoFit/>
          </a:bodyPr>
          <a:lstStyle/>
          <a:p>
            <a:pPr>
              <a:defRPr sz="1200" b="0" i="0">
                <a:solidFill>
                  <a:srgbClr val="27342F"/>
                </a:solidFill>
                <a:latin typeface="Aptos"/>
              </a:defRPr>
            </a:pPr>
            <a:r>
              <a:t>Registration, login and protected routes.</a:t>
            </a:r>
          </a:p>
        </p:txBody>
      </p:sp>
      <p:sp>
        <p:nvSpPr>
          <p:cNvPr id="10" name="Rounded Rectangle 9"/>
          <p:cNvSpPr/>
          <p:nvPr/>
        </p:nvSpPr>
        <p:spPr>
          <a:xfrm>
            <a:off x="4251960" y="1280160"/>
            <a:ext cx="3429000" cy="15544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325880"/>
            <a:ext cx="64008" cy="1463039"/>
          </a:xfrm>
          <a:prstGeom prst="rect">
            <a:avLst/>
          </a:prstGeom>
          <a:solidFill>
            <a:srgbClr val="AFD7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16552" y="1417319"/>
            <a:ext cx="31546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2. Classification</a:t>
            </a:r>
          </a:p>
        </p:txBody>
      </p:sp>
      <p:sp>
        <p:nvSpPr>
          <p:cNvPr id="13" name="TextBox 12"/>
          <p:cNvSpPr txBox="1"/>
          <p:nvPr/>
        </p:nvSpPr>
        <p:spPr>
          <a:xfrm>
            <a:off x="4416552" y="1801367"/>
            <a:ext cx="3118104" cy="932688"/>
          </a:xfrm>
          <a:prstGeom prst="rect">
            <a:avLst/>
          </a:prstGeom>
          <a:noFill/>
        </p:spPr>
        <p:txBody>
          <a:bodyPr wrap="square" lIns="36576" rIns="36576" tIns="36576" bIns="36576" anchor="t">
            <a:spAutoFit/>
          </a:bodyPr>
          <a:lstStyle/>
          <a:p>
            <a:pPr>
              <a:defRPr sz="1200" b="0" i="0">
                <a:solidFill>
                  <a:srgbClr val="27342F"/>
                </a:solidFill>
                <a:latin typeface="Aptos"/>
              </a:defRPr>
            </a:pPr>
            <a:r>
              <a:t>Image validation, model inference and disposal guidance.</a:t>
            </a:r>
          </a:p>
        </p:txBody>
      </p:sp>
      <p:sp>
        <p:nvSpPr>
          <p:cNvPr id="14" name="Rounded Rectangle 13"/>
          <p:cNvSpPr/>
          <p:nvPr/>
        </p:nvSpPr>
        <p:spPr>
          <a:xfrm>
            <a:off x="7909560" y="1280160"/>
            <a:ext cx="3429000" cy="15544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09560" y="1325880"/>
            <a:ext cx="64008" cy="1463039"/>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74152" y="1417319"/>
            <a:ext cx="31546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3. Analytics</a:t>
            </a:r>
          </a:p>
        </p:txBody>
      </p:sp>
      <p:sp>
        <p:nvSpPr>
          <p:cNvPr id="17" name="TextBox 16"/>
          <p:cNvSpPr txBox="1"/>
          <p:nvPr/>
        </p:nvSpPr>
        <p:spPr>
          <a:xfrm>
            <a:off x="8074152" y="1801367"/>
            <a:ext cx="3118104" cy="932688"/>
          </a:xfrm>
          <a:prstGeom prst="rect">
            <a:avLst/>
          </a:prstGeom>
          <a:noFill/>
        </p:spPr>
        <p:txBody>
          <a:bodyPr wrap="square" lIns="36576" rIns="36576" tIns="36576" bIns="36576" anchor="t">
            <a:spAutoFit/>
          </a:bodyPr>
          <a:lstStyle/>
          <a:p>
            <a:pPr>
              <a:defRPr sz="1200" b="0" i="0">
                <a:solidFill>
                  <a:srgbClr val="27342F"/>
                </a:solidFill>
                <a:latin typeface="Aptos"/>
              </a:defRPr>
            </a:pPr>
            <a:r>
              <a:t>Totals, category counts, daily trends and estimated CO₂ savings.</a:t>
            </a:r>
          </a:p>
        </p:txBody>
      </p:sp>
      <p:sp>
        <p:nvSpPr>
          <p:cNvPr id="18" name="Rounded Rectangle 17"/>
          <p:cNvSpPr/>
          <p:nvPr/>
        </p:nvSpPr>
        <p:spPr>
          <a:xfrm>
            <a:off x="594360" y="3246120"/>
            <a:ext cx="3429000" cy="15544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291839"/>
            <a:ext cx="64008" cy="1463039"/>
          </a:xfrm>
          <a:prstGeom prst="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3383279"/>
            <a:ext cx="31546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4. History &amp; Export</a:t>
            </a:r>
          </a:p>
        </p:txBody>
      </p:sp>
      <p:sp>
        <p:nvSpPr>
          <p:cNvPr id="21" name="TextBox 20"/>
          <p:cNvSpPr txBox="1"/>
          <p:nvPr/>
        </p:nvSpPr>
        <p:spPr>
          <a:xfrm>
            <a:off x="758952" y="3767328"/>
            <a:ext cx="3118104" cy="932688"/>
          </a:xfrm>
          <a:prstGeom prst="rect">
            <a:avLst/>
          </a:prstGeom>
          <a:noFill/>
        </p:spPr>
        <p:txBody>
          <a:bodyPr wrap="square" lIns="36576" rIns="36576" tIns="36576" bIns="36576" anchor="t">
            <a:spAutoFit/>
          </a:bodyPr>
          <a:lstStyle/>
          <a:p>
            <a:pPr>
              <a:defRPr sz="1200" b="0" i="0">
                <a:solidFill>
                  <a:srgbClr val="27342F"/>
                </a:solidFill>
                <a:latin typeface="Aptos"/>
              </a:defRPr>
            </a:pPr>
            <a:r>
              <a:t>Recent scans and full CSV export.</a:t>
            </a:r>
          </a:p>
        </p:txBody>
      </p:sp>
      <p:sp>
        <p:nvSpPr>
          <p:cNvPr id="22" name="Rounded Rectangle 21"/>
          <p:cNvSpPr/>
          <p:nvPr/>
        </p:nvSpPr>
        <p:spPr>
          <a:xfrm>
            <a:off x="4251960" y="3246120"/>
            <a:ext cx="3429000" cy="15544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60" y="3291839"/>
            <a:ext cx="64008" cy="1463039"/>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16552" y="3383279"/>
            <a:ext cx="31546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5. Categories Guide</a:t>
            </a:r>
          </a:p>
        </p:txBody>
      </p:sp>
      <p:sp>
        <p:nvSpPr>
          <p:cNvPr id="25" name="TextBox 24"/>
          <p:cNvSpPr txBox="1"/>
          <p:nvPr/>
        </p:nvSpPr>
        <p:spPr>
          <a:xfrm>
            <a:off x="4416552" y="3767328"/>
            <a:ext cx="3118104" cy="932688"/>
          </a:xfrm>
          <a:prstGeom prst="rect">
            <a:avLst/>
          </a:prstGeom>
          <a:noFill/>
        </p:spPr>
        <p:txBody>
          <a:bodyPr wrap="square" lIns="36576" rIns="36576" tIns="36576" bIns="36576" anchor="t">
            <a:spAutoFit/>
          </a:bodyPr>
          <a:lstStyle/>
          <a:p>
            <a:pPr>
              <a:defRPr sz="1200" b="0" i="0">
                <a:solidFill>
                  <a:srgbClr val="27342F"/>
                </a:solidFill>
                <a:latin typeface="Aptos"/>
              </a:defRPr>
            </a:pPr>
            <a:r>
              <a:t>Category descriptions and explanation of the decision flow.</a:t>
            </a:r>
          </a:p>
        </p:txBody>
      </p:sp>
      <p:sp>
        <p:nvSpPr>
          <p:cNvPr id="26" name="Rounded Rectangle 25"/>
          <p:cNvSpPr/>
          <p:nvPr/>
        </p:nvSpPr>
        <p:spPr>
          <a:xfrm>
            <a:off x="7909560" y="3246120"/>
            <a:ext cx="3429000" cy="15544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09560" y="3291839"/>
            <a:ext cx="64008" cy="1463039"/>
          </a:xfrm>
          <a:prstGeom prst="rect">
            <a:avLst/>
          </a:prstGeom>
          <a:solidFill>
            <a:srgbClr val="AFD7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74152" y="3383279"/>
            <a:ext cx="31546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6. Model Training</a:t>
            </a:r>
          </a:p>
        </p:txBody>
      </p:sp>
      <p:sp>
        <p:nvSpPr>
          <p:cNvPr id="29" name="TextBox 28"/>
          <p:cNvSpPr txBox="1"/>
          <p:nvPr/>
        </p:nvSpPr>
        <p:spPr>
          <a:xfrm>
            <a:off x="8074152" y="3767328"/>
            <a:ext cx="3118104" cy="932688"/>
          </a:xfrm>
          <a:prstGeom prst="rect">
            <a:avLst/>
          </a:prstGeom>
          <a:noFill/>
        </p:spPr>
        <p:txBody>
          <a:bodyPr wrap="square" lIns="36576" rIns="36576" tIns="36576" bIns="36576" anchor="t">
            <a:spAutoFit/>
          </a:bodyPr>
          <a:lstStyle/>
          <a:p>
            <a:pPr>
              <a:defRPr sz="1200" b="0" i="0">
                <a:solidFill>
                  <a:srgbClr val="27342F"/>
                </a:solidFill>
                <a:latin typeface="Aptos"/>
              </a:defRPr>
            </a:pPr>
            <a:r>
              <a:t>Fine-tuning MobileNetV2 on TrashNet.</a:t>
            </a:r>
          </a:p>
        </p:txBody>
      </p:sp>
      <p:sp>
        <p:nvSpPr>
          <p:cNvPr id="30" name="TextBox 29"/>
          <p:cNvSpPr txBox="1"/>
          <p:nvPr/>
        </p:nvSpPr>
        <p:spPr>
          <a:xfrm>
            <a:off x="731520" y="5532120"/>
            <a:ext cx="10789920" cy="411480"/>
          </a:xfrm>
          <a:prstGeom prst="rect">
            <a:avLst/>
          </a:prstGeom>
          <a:noFill/>
        </p:spPr>
        <p:txBody>
          <a:bodyPr wrap="square" lIns="36576" rIns="36576" tIns="36576" bIns="36576" anchor="t">
            <a:spAutoFit/>
          </a:bodyPr>
          <a:lstStyle/>
          <a:p>
            <a:pPr algn="ctr">
              <a:defRPr sz="1500" b="1" i="0">
                <a:solidFill>
                  <a:srgbClr val="142F27"/>
                </a:solidFill>
                <a:latin typeface="Aptos"/>
              </a:defRPr>
            </a:pPr>
            <a:r>
              <a:t>User journey: sign in → upload image → review prediction → track scans and progress.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AI Model Development</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Transfer learning with MobileNetV2</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07</a:t>
            </a:r>
          </a:p>
        </p:txBody>
      </p:sp>
      <p:sp>
        <p:nvSpPr>
          <p:cNvPr id="6" name="Rounded Rectangle 5"/>
          <p:cNvSpPr/>
          <p:nvPr/>
        </p:nvSpPr>
        <p:spPr>
          <a:xfrm>
            <a:off x="594360" y="1234440"/>
            <a:ext cx="3520440" cy="448056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280160"/>
            <a:ext cx="64008" cy="438912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371600"/>
            <a:ext cx="3246120" cy="347472"/>
          </a:xfrm>
          <a:prstGeom prst="rect">
            <a:avLst/>
          </a:prstGeom>
          <a:noFill/>
        </p:spPr>
        <p:txBody>
          <a:bodyPr wrap="square" lIns="36576" rIns="36576" tIns="36576" bIns="36576" anchor="t">
            <a:spAutoFit/>
          </a:bodyPr>
          <a:lstStyle/>
          <a:p>
            <a:pPr>
              <a:defRPr sz="1600" b="1" i="0">
                <a:solidFill>
                  <a:srgbClr val="142F27"/>
                </a:solidFill>
                <a:latin typeface="Aptos"/>
              </a:defRPr>
            </a:pPr>
            <a:r>
              <a:t>Dataset</a:t>
            </a:r>
          </a:p>
        </p:txBody>
      </p:sp>
      <p:sp>
        <p:nvSpPr>
          <p:cNvPr id="9" name="TextBox 8"/>
          <p:cNvSpPr txBox="1"/>
          <p:nvPr/>
        </p:nvSpPr>
        <p:spPr>
          <a:xfrm>
            <a:off x="758952" y="1755648"/>
            <a:ext cx="3209544" cy="3858768"/>
          </a:xfrm>
          <a:prstGeom prst="rect">
            <a:avLst/>
          </a:prstGeom>
          <a:noFill/>
        </p:spPr>
        <p:txBody>
          <a:bodyPr wrap="square" lIns="36576" rIns="36576" tIns="36576" bIns="36576" anchor="t">
            <a:spAutoFit/>
          </a:bodyPr>
          <a:lstStyle/>
          <a:p>
            <a:pPr>
              <a:defRPr sz="1400" b="0" i="0">
                <a:solidFill>
                  <a:srgbClr val="27342F"/>
                </a:solidFill>
                <a:latin typeface="Aptos"/>
              </a:defRPr>
            </a:pPr>
            <a:r>
              <a:t>TrashNet dataset</a:t>
            </a:r>
            <a:br/>
            <a:r>
              <a:t>3,790 labelled images</a:t>
            </a:r>
            <a:br/>
            <a:r>
              <a:t>Six classes:</a:t>
            </a:r>
            <a:br/>
            <a:r>
              <a:t>• Cardboard</a:t>
            </a:r>
            <a:br/>
            <a:r>
              <a:t>• Glass</a:t>
            </a:r>
            <a:br/>
            <a:r>
              <a:t>• Metal</a:t>
            </a:r>
            <a:br/>
            <a:r>
              <a:t>• Paper</a:t>
            </a:r>
            <a:br/>
            <a:r>
              <a:t>• Plastic</a:t>
            </a:r>
            <a:br/>
            <a:r>
              <a:t>• Trash</a:t>
            </a:r>
            <a:br/>
            <a:br/>
            <a:r>
              <a:t>Images resized to 224 × 224.</a:t>
            </a:r>
          </a:p>
        </p:txBody>
      </p:sp>
      <p:sp>
        <p:nvSpPr>
          <p:cNvPr id="10" name="Rounded Rectangle 9"/>
          <p:cNvSpPr/>
          <p:nvPr/>
        </p:nvSpPr>
        <p:spPr>
          <a:xfrm>
            <a:off x="4343400" y="1234440"/>
            <a:ext cx="3520440" cy="448056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280160"/>
            <a:ext cx="64008" cy="4389120"/>
          </a:xfrm>
          <a:prstGeom prst="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371600"/>
            <a:ext cx="3246120" cy="347472"/>
          </a:xfrm>
          <a:prstGeom prst="rect">
            <a:avLst/>
          </a:prstGeom>
          <a:noFill/>
        </p:spPr>
        <p:txBody>
          <a:bodyPr wrap="square" lIns="36576" rIns="36576" tIns="36576" bIns="36576" anchor="t">
            <a:spAutoFit/>
          </a:bodyPr>
          <a:lstStyle/>
          <a:p>
            <a:pPr>
              <a:defRPr sz="1600" b="1" i="0">
                <a:solidFill>
                  <a:srgbClr val="142F27"/>
                </a:solidFill>
                <a:latin typeface="Aptos"/>
              </a:defRPr>
            </a:pPr>
            <a:r>
              <a:t>Baseline model (v1)</a:t>
            </a:r>
          </a:p>
        </p:txBody>
      </p:sp>
      <p:sp>
        <p:nvSpPr>
          <p:cNvPr id="13" name="TextBox 12"/>
          <p:cNvSpPr txBox="1"/>
          <p:nvPr/>
        </p:nvSpPr>
        <p:spPr>
          <a:xfrm>
            <a:off x="4507992" y="1755648"/>
            <a:ext cx="3209544" cy="3858768"/>
          </a:xfrm>
          <a:prstGeom prst="rect">
            <a:avLst/>
          </a:prstGeom>
          <a:noFill/>
        </p:spPr>
        <p:txBody>
          <a:bodyPr wrap="square" lIns="36576" rIns="36576" tIns="36576" bIns="36576" anchor="t">
            <a:spAutoFit/>
          </a:bodyPr>
          <a:lstStyle/>
          <a:p>
            <a:pPr>
              <a:defRPr sz="1400" b="0" i="0">
                <a:solidFill>
                  <a:srgbClr val="27342F"/>
                </a:solidFill>
                <a:latin typeface="Aptos"/>
              </a:defRPr>
            </a:pPr>
            <a:r>
              <a:t>ImageNet-pretrained MobileNetV2</a:t>
            </a:r>
            <a:br/>
            <a:r>
              <a:t>Frozen feature extractor</a:t>
            </a:r>
            <a:br/>
            <a:r>
              <a:t>New six-class output layer</a:t>
            </a:r>
            <a:br/>
            <a:r>
              <a:t>Adam optimiser</a:t>
            </a:r>
            <a:br/>
            <a:r>
              <a:t>8 epochs</a:t>
            </a:r>
            <a:br/>
            <a:br/>
            <a:r>
              <a:t>Baseline test accuracy:</a:t>
            </a:r>
            <a:br/>
            <a:r>
              <a:t>84.2%</a:t>
            </a:r>
          </a:p>
        </p:txBody>
      </p:sp>
      <p:sp>
        <p:nvSpPr>
          <p:cNvPr id="14" name="Rounded Rectangle 13"/>
          <p:cNvSpPr/>
          <p:nvPr/>
        </p:nvSpPr>
        <p:spPr>
          <a:xfrm>
            <a:off x="8092440" y="1234440"/>
            <a:ext cx="3520440" cy="448056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280160"/>
            <a:ext cx="64008" cy="438912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1" y="1371600"/>
            <a:ext cx="3246120" cy="347472"/>
          </a:xfrm>
          <a:prstGeom prst="rect">
            <a:avLst/>
          </a:prstGeom>
          <a:noFill/>
        </p:spPr>
        <p:txBody>
          <a:bodyPr wrap="square" lIns="36576" rIns="36576" tIns="36576" bIns="36576" anchor="t">
            <a:spAutoFit/>
          </a:bodyPr>
          <a:lstStyle/>
          <a:p>
            <a:pPr>
              <a:defRPr sz="1600" b="1" i="0">
                <a:solidFill>
                  <a:srgbClr val="142F27"/>
                </a:solidFill>
                <a:latin typeface="Aptos"/>
              </a:defRPr>
            </a:pPr>
            <a:r>
              <a:t>Improved model (v2)</a:t>
            </a:r>
          </a:p>
        </p:txBody>
      </p:sp>
      <p:sp>
        <p:nvSpPr>
          <p:cNvPr id="17" name="TextBox 16"/>
          <p:cNvSpPr txBox="1"/>
          <p:nvPr/>
        </p:nvSpPr>
        <p:spPr>
          <a:xfrm>
            <a:off x="8257031" y="1755648"/>
            <a:ext cx="3209544" cy="3858768"/>
          </a:xfrm>
          <a:prstGeom prst="rect">
            <a:avLst/>
          </a:prstGeom>
          <a:noFill/>
        </p:spPr>
        <p:txBody>
          <a:bodyPr wrap="square" lIns="36576" rIns="36576" tIns="36576" bIns="36576" anchor="t">
            <a:spAutoFit/>
          </a:bodyPr>
          <a:lstStyle/>
          <a:p>
            <a:pPr>
              <a:defRPr sz="1400" b="0" i="0">
                <a:solidFill>
                  <a:srgbClr val="27342F"/>
                </a:solidFill>
                <a:latin typeface="Aptos"/>
              </a:defRPr>
            </a:pPr>
            <a:r>
              <a:t>Partially fine-tuned feature blocks</a:t>
            </a:r>
            <a:br/>
            <a:r>
              <a:t>Stronger augmentation: crop, rotation and colour jitter</a:t>
            </a:r>
            <a:br/>
            <a:r>
              <a:t>Class-weighted loss</a:t>
            </a:r>
            <a:br/>
            <a:r>
              <a:t>AdamW optimiser</a:t>
            </a:r>
            <a:br/>
            <a:r>
              <a:t>12 epochs; best checkpoint selected</a:t>
            </a:r>
            <a:br/>
            <a:br/>
            <a:r>
              <a:t>Final reported accuracy:</a:t>
            </a:r>
            <a:br/>
            <a:r>
              <a:t>92.1%</a:t>
            </a:r>
          </a:p>
        </p:txBody>
      </p:sp>
      <p:sp>
        <p:nvSpPr>
          <p:cNvPr id="18" name="TextBox 17"/>
          <p:cNvSpPr txBox="1"/>
          <p:nvPr/>
        </p:nvSpPr>
        <p:spPr>
          <a:xfrm>
            <a:off x="777240" y="5989320"/>
            <a:ext cx="10607040" cy="274320"/>
          </a:xfrm>
          <a:prstGeom prst="rect">
            <a:avLst/>
          </a:prstGeom>
          <a:noFill/>
        </p:spPr>
        <p:txBody>
          <a:bodyPr wrap="square" lIns="36576" rIns="36576" tIns="36576" bIns="36576" anchor="t">
            <a:spAutoFit/>
          </a:bodyPr>
          <a:lstStyle/>
          <a:p>
            <a:pPr>
              <a:defRPr sz="1000" b="0" i="1">
                <a:solidFill>
                  <a:srgbClr val="61736A"/>
                </a:solidFill>
                <a:latin typeface="Aptos"/>
              </a:defRPr>
            </a:pPr>
            <a:r>
              <a:t>The evaluation used 506 held-out images; the report notes the result may be optimistic because the same test set informed checkpoint selection.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Classification Workflow</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What happens after a user uploads a photo</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08</a:t>
            </a:r>
          </a:p>
        </p:txBody>
      </p:sp>
      <p:sp>
        <p:nvSpPr>
          <p:cNvPr id="6" name="Rounded Rectangle 5"/>
          <p:cNvSpPr/>
          <p:nvPr/>
        </p:nvSpPr>
        <p:spPr>
          <a:xfrm>
            <a:off x="777240" y="1508760"/>
            <a:ext cx="73152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31619"/>
            <a:ext cx="67665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01</a:t>
            </a:r>
          </a:p>
        </p:txBody>
      </p:sp>
      <p:sp>
        <p:nvSpPr>
          <p:cNvPr id="8" name="Rounded Rectangle 7"/>
          <p:cNvSpPr/>
          <p:nvPr/>
        </p:nvSpPr>
        <p:spPr>
          <a:xfrm>
            <a:off x="502920" y="2057400"/>
            <a:ext cx="1645920" cy="8686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093976"/>
            <a:ext cx="1517904" cy="795528"/>
          </a:xfrm>
          <a:prstGeom prst="rect">
            <a:avLst/>
          </a:prstGeom>
          <a:noFill/>
        </p:spPr>
        <p:txBody>
          <a:bodyPr wrap="square" lIns="36576" rIns="36576" tIns="36576" bIns="36576" anchor="ctr">
            <a:spAutoFit/>
          </a:bodyPr>
          <a:lstStyle/>
          <a:p>
            <a:pPr algn="ctr">
              <a:defRPr sz="1400" b="1" i="0">
                <a:solidFill>
                  <a:srgbClr val="142F27"/>
                </a:solidFill>
                <a:latin typeface="Aptos"/>
              </a:defRPr>
            </a:pPr>
            <a:r>
              <a:t>Sign in</a:t>
            </a:r>
          </a:p>
        </p:txBody>
      </p:sp>
      <p:sp>
        <p:nvSpPr>
          <p:cNvPr id="10" name="TextBox 9"/>
          <p:cNvSpPr txBox="1"/>
          <p:nvPr/>
        </p:nvSpPr>
        <p:spPr>
          <a:xfrm>
            <a:off x="521208" y="3063240"/>
            <a:ext cx="1609344" cy="685800"/>
          </a:xfrm>
          <a:prstGeom prst="rect">
            <a:avLst/>
          </a:prstGeom>
          <a:noFill/>
        </p:spPr>
        <p:txBody>
          <a:bodyPr wrap="square" lIns="36576" rIns="36576" tIns="36576" bIns="36576" anchor="t">
            <a:spAutoFit/>
          </a:bodyPr>
          <a:lstStyle/>
          <a:p>
            <a:pPr algn="ctr">
              <a:defRPr sz="1100" b="0" i="0">
                <a:solidFill>
                  <a:srgbClr val="61736A"/>
                </a:solidFill>
                <a:latin typeface="Aptos"/>
              </a:defRPr>
            </a:pPr>
            <a:r>
              <a:t>User token is checked</a:t>
            </a:r>
          </a:p>
        </p:txBody>
      </p:sp>
      <p:cxnSp>
        <p:nvCxnSpPr>
          <p:cNvPr id="11" name="Connector 10"/>
          <p:cNvCxnSpPr/>
          <p:nvPr/>
        </p:nvCxnSpPr>
        <p:spPr>
          <a:xfrm>
            <a:off x="2167128" y="2487168"/>
            <a:ext cx="210311" cy="0"/>
          </a:xfrm>
          <a:prstGeom prst="line">
            <a:avLst/>
          </a:prstGeom>
          <a:ln w="25400">
            <a:solidFill>
              <a:srgbClr val="237E5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24911" y="1508760"/>
            <a:ext cx="73152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52343" y="1531619"/>
            <a:ext cx="67665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02</a:t>
            </a:r>
          </a:p>
        </p:txBody>
      </p:sp>
      <p:sp>
        <p:nvSpPr>
          <p:cNvPr id="14" name="Rounded Rectangle 13"/>
          <p:cNvSpPr/>
          <p:nvPr/>
        </p:nvSpPr>
        <p:spPr>
          <a:xfrm>
            <a:off x="2450591" y="2057400"/>
            <a:ext cx="1645920" cy="8686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4599" y="2093976"/>
            <a:ext cx="1517904" cy="795528"/>
          </a:xfrm>
          <a:prstGeom prst="rect">
            <a:avLst/>
          </a:prstGeom>
          <a:noFill/>
        </p:spPr>
        <p:txBody>
          <a:bodyPr wrap="square" lIns="36576" rIns="36576" tIns="36576" bIns="36576" anchor="ctr">
            <a:spAutoFit/>
          </a:bodyPr>
          <a:lstStyle/>
          <a:p>
            <a:pPr algn="ctr">
              <a:defRPr sz="1400" b="1" i="0">
                <a:solidFill>
                  <a:srgbClr val="142F27"/>
                </a:solidFill>
                <a:latin typeface="Aptos"/>
              </a:defRPr>
            </a:pPr>
            <a:r>
              <a:t>Upload image</a:t>
            </a:r>
          </a:p>
        </p:txBody>
      </p:sp>
      <p:sp>
        <p:nvSpPr>
          <p:cNvPr id="16" name="TextBox 15"/>
          <p:cNvSpPr txBox="1"/>
          <p:nvPr/>
        </p:nvSpPr>
        <p:spPr>
          <a:xfrm>
            <a:off x="2468879" y="3063240"/>
            <a:ext cx="1609344" cy="685800"/>
          </a:xfrm>
          <a:prstGeom prst="rect">
            <a:avLst/>
          </a:prstGeom>
          <a:noFill/>
        </p:spPr>
        <p:txBody>
          <a:bodyPr wrap="square" lIns="36576" rIns="36576" tIns="36576" bIns="36576" anchor="t">
            <a:spAutoFit/>
          </a:bodyPr>
          <a:lstStyle/>
          <a:p>
            <a:pPr algn="ctr">
              <a:defRPr sz="1100" b="0" i="0">
                <a:solidFill>
                  <a:srgbClr val="61736A"/>
                </a:solidFill>
                <a:latin typeface="Aptos"/>
              </a:defRPr>
            </a:pPr>
            <a:r>
              <a:t>JPG/PNG is validated</a:t>
            </a:r>
          </a:p>
        </p:txBody>
      </p:sp>
      <p:cxnSp>
        <p:nvCxnSpPr>
          <p:cNvPr id="17" name="Connector 16"/>
          <p:cNvCxnSpPr/>
          <p:nvPr/>
        </p:nvCxnSpPr>
        <p:spPr>
          <a:xfrm>
            <a:off x="4114800" y="2487168"/>
            <a:ext cx="210312" cy="0"/>
          </a:xfrm>
          <a:prstGeom prst="line">
            <a:avLst/>
          </a:prstGeom>
          <a:ln w="25400">
            <a:solidFill>
              <a:srgbClr val="237E53"/>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672583" y="1508760"/>
            <a:ext cx="73152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0016" y="1531619"/>
            <a:ext cx="67665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03</a:t>
            </a:r>
          </a:p>
        </p:txBody>
      </p:sp>
      <p:sp>
        <p:nvSpPr>
          <p:cNvPr id="20" name="Rounded Rectangle 19"/>
          <p:cNvSpPr/>
          <p:nvPr/>
        </p:nvSpPr>
        <p:spPr>
          <a:xfrm>
            <a:off x="4398264" y="2057400"/>
            <a:ext cx="1645920" cy="8686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62272" y="2093976"/>
            <a:ext cx="1517904" cy="795528"/>
          </a:xfrm>
          <a:prstGeom prst="rect">
            <a:avLst/>
          </a:prstGeom>
          <a:noFill/>
        </p:spPr>
        <p:txBody>
          <a:bodyPr wrap="square" lIns="36576" rIns="36576" tIns="36576" bIns="36576" anchor="ctr">
            <a:spAutoFit/>
          </a:bodyPr>
          <a:lstStyle/>
          <a:p>
            <a:pPr algn="ctr">
              <a:defRPr sz="1400" b="1" i="0">
                <a:solidFill>
                  <a:srgbClr val="142F27"/>
                </a:solidFill>
                <a:latin typeface="Aptos"/>
              </a:defRPr>
            </a:pPr>
            <a:r>
              <a:t>Preprocess</a:t>
            </a:r>
          </a:p>
        </p:txBody>
      </p:sp>
      <p:sp>
        <p:nvSpPr>
          <p:cNvPr id="22" name="TextBox 21"/>
          <p:cNvSpPr txBox="1"/>
          <p:nvPr/>
        </p:nvSpPr>
        <p:spPr>
          <a:xfrm>
            <a:off x="4416551" y="3063240"/>
            <a:ext cx="1609344" cy="685800"/>
          </a:xfrm>
          <a:prstGeom prst="rect">
            <a:avLst/>
          </a:prstGeom>
          <a:noFill/>
        </p:spPr>
        <p:txBody>
          <a:bodyPr wrap="square" lIns="36576" rIns="36576" tIns="36576" bIns="36576" anchor="t">
            <a:spAutoFit/>
          </a:bodyPr>
          <a:lstStyle/>
          <a:p>
            <a:pPr algn="ctr">
              <a:defRPr sz="1100" b="0" i="0">
                <a:solidFill>
                  <a:srgbClr val="61736A"/>
                </a:solidFill>
                <a:latin typeface="Aptos"/>
              </a:defRPr>
            </a:pPr>
            <a:r>
              <a:t>RGB • 224 × 224 • normalize</a:t>
            </a:r>
          </a:p>
        </p:txBody>
      </p:sp>
      <p:cxnSp>
        <p:nvCxnSpPr>
          <p:cNvPr id="23" name="Connector 22"/>
          <p:cNvCxnSpPr/>
          <p:nvPr/>
        </p:nvCxnSpPr>
        <p:spPr>
          <a:xfrm>
            <a:off x="6062472" y="2487168"/>
            <a:ext cx="210311" cy="0"/>
          </a:xfrm>
          <a:prstGeom prst="line">
            <a:avLst/>
          </a:prstGeom>
          <a:ln w="25400">
            <a:solidFill>
              <a:srgbClr val="237E53"/>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20255" y="1508760"/>
            <a:ext cx="73152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47688" y="1531619"/>
            <a:ext cx="67665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04</a:t>
            </a:r>
          </a:p>
        </p:txBody>
      </p:sp>
      <p:sp>
        <p:nvSpPr>
          <p:cNvPr id="26" name="Rounded Rectangle 25"/>
          <p:cNvSpPr/>
          <p:nvPr/>
        </p:nvSpPr>
        <p:spPr>
          <a:xfrm>
            <a:off x="6345936" y="2057400"/>
            <a:ext cx="1645920" cy="8686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2093976"/>
            <a:ext cx="1517904" cy="795528"/>
          </a:xfrm>
          <a:prstGeom prst="rect">
            <a:avLst/>
          </a:prstGeom>
          <a:noFill/>
        </p:spPr>
        <p:txBody>
          <a:bodyPr wrap="square" lIns="36576" rIns="36576" tIns="36576" bIns="36576" anchor="ctr">
            <a:spAutoFit/>
          </a:bodyPr>
          <a:lstStyle/>
          <a:p>
            <a:pPr algn="ctr">
              <a:defRPr sz="1400" b="1" i="0">
                <a:solidFill>
                  <a:srgbClr val="142F27"/>
                </a:solidFill>
                <a:latin typeface="Aptos"/>
              </a:defRPr>
            </a:pPr>
            <a:r>
              <a:t>Predict</a:t>
            </a:r>
          </a:p>
        </p:txBody>
      </p:sp>
      <p:sp>
        <p:nvSpPr>
          <p:cNvPr id="28" name="TextBox 27"/>
          <p:cNvSpPr txBox="1"/>
          <p:nvPr/>
        </p:nvSpPr>
        <p:spPr>
          <a:xfrm>
            <a:off x="6364223" y="3063240"/>
            <a:ext cx="1609344" cy="685800"/>
          </a:xfrm>
          <a:prstGeom prst="rect">
            <a:avLst/>
          </a:prstGeom>
          <a:noFill/>
        </p:spPr>
        <p:txBody>
          <a:bodyPr wrap="square" lIns="36576" rIns="36576" tIns="36576" bIns="36576" anchor="t">
            <a:spAutoFit/>
          </a:bodyPr>
          <a:lstStyle/>
          <a:p>
            <a:pPr algn="ctr">
              <a:defRPr sz="1100" b="0" i="0">
                <a:solidFill>
                  <a:srgbClr val="61736A"/>
                </a:solidFill>
                <a:latin typeface="Aptos"/>
              </a:defRPr>
            </a:pPr>
            <a:r>
              <a:t>MobileNetV2 scores 6 classes</a:t>
            </a:r>
          </a:p>
        </p:txBody>
      </p:sp>
      <p:cxnSp>
        <p:nvCxnSpPr>
          <p:cNvPr id="29" name="Connector 28"/>
          <p:cNvCxnSpPr/>
          <p:nvPr/>
        </p:nvCxnSpPr>
        <p:spPr>
          <a:xfrm>
            <a:off x="8010144" y="2487168"/>
            <a:ext cx="210311" cy="0"/>
          </a:xfrm>
          <a:prstGeom prst="line">
            <a:avLst/>
          </a:prstGeom>
          <a:ln w="25400">
            <a:solidFill>
              <a:srgbClr val="237E53"/>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567928" y="1508760"/>
            <a:ext cx="73152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1531619"/>
            <a:ext cx="67665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05</a:t>
            </a:r>
          </a:p>
        </p:txBody>
      </p:sp>
      <p:sp>
        <p:nvSpPr>
          <p:cNvPr id="32" name="Rounded Rectangle 31"/>
          <p:cNvSpPr/>
          <p:nvPr/>
        </p:nvSpPr>
        <p:spPr>
          <a:xfrm>
            <a:off x="8293608" y="2057400"/>
            <a:ext cx="1645920" cy="8686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57616" y="2093976"/>
            <a:ext cx="1517904" cy="795528"/>
          </a:xfrm>
          <a:prstGeom prst="rect">
            <a:avLst/>
          </a:prstGeom>
          <a:noFill/>
        </p:spPr>
        <p:txBody>
          <a:bodyPr wrap="square" lIns="36576" rIns="36576" tIns="36576" bIns="36576" anchor="ctr">
            <a:spAutoFit/>
          </a:bodyPr>
          <a:lstStyle/>
          <a:p>
            <a:pPr algn="ctr">
              <a:defRPr sz="1400" b="1" i="0">
                <a:solidFill>
                  <a:srgbClr val="142F27"/>
                </a:solidFill>
                <a:latin typeface="Aptos"/>
              </a:defRPr>
            </a:pPr>
            <a:r>
              <a:t>Guide</a:t>
            </a:r>
          </a:p>
        </p:txBody>
      </p:sp>
      <p:sp>
        <p:nvSpPr>
          <p:cNvPr id="34" name="TextBox 33"/>
          <p:cNvSpPr txBox="1"/>
          <p:nvPr/>
        </p:nvSpPr>
        <p:spPr>
          <a:xfrm>
            <a:off x="8311896" y="3063240"/>
            <a:ext cx="1609344" cy="685800"/>
          </a:xfrm>
          <a:prstGeom prst="rect">
            <a:avLst/>
          </a:prstGeom>
          <a:noFill/>
        </p:spPr>
        <p:txBody>
          <a:bodyPr wrap="square" lIns="36576" rIns="36576" tIns="36576" bIns="36576" anchor="t">
            <a:spAutoFit/>
          </a:bodyPr>
          <a:lstStyle/>
          <a:p>
            <a:pPr algn="ctr">
              <a:defRPr sz="1100" b="0" i="0">
                <a:solidFill>
                  <a:srgbClr val="61736A"/>
                </a:solidFill>
                <a:latin typeface="Aptos"/>
              </a:defRPr>
            </a:pPr>
            <a:r>
              <a:t>Bin, recyclable flag and tip</a:t>
            </a:r>
          </a:p>
        </p:txBody>
      </p:sp>
      <p:cxnSp>
        <p:nvCxnSpPr>
          <p:cNvPr id="35" name="Connector 34"/>
          <p:cNvCxnSpPr/>
          <p:nvPr/>
        </p:nvCxnSpPr>
        <p:spPr>
          <a:xfrm>
            <a:off x="9957816" y="2487168"/>
            <a:ext cx="210312" cy="0"/>
          </a:xfrm>
          <a:prstGeom prst="line">
            <a:avLst/>
          </a:prstGeom>
          <a:ln w="25400">
            <a:solidFill>
              <a:srgbClr val="237E53"/>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515600" y="1508760"/>
            <a:ext cx="731520" cy="310896"/>
          </a:xfrm>
          <a:prstGeom prst="roundRect">
            <a:avLst/>
          </a:prstGeom>
          <a:solidFill>
            <a:srgbClr val="DD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43032" y="1531619"/>
            <a:ext cx="676656" cy="237744"/>
          </a:xfrm>
          <a:prstGeom prst="rect">
            <a:avLst/>
          </a:prstGeom>
          <a:noFill/>
        </p:spPr>
        <p:txBody>
          <a:bodyPr wrap="square" lIns="36576" rIns="36576" tIns="36576" bIns="36576" anchor="ctr">
            <a:spAutoFit/>
          </a:bodyPr>
          <a:lstStyle/>
          <a:p>
            <a:pPr algn="ctr">
              <a:defRPr sz="1000" b="1" i="0">
                <a:solidFill>
                  <a:srgbClr val="237E53"/>
                </a:solidFill>
                <a:latin typeface="Aptos"/>
              </a:defRPr>
            </a:pPr>
            <a:r>
              <a:t>06</a:t>
            </a:r>
          </a:p>
        </p:txBody>
      </p:sp>
      <p:sp>
        <p:nvSpPr>
          <p:cNvPr id="38" name="Rounded Rectangle 37"/>
          <p:cNvSpPr/>
          <p:nvPr/>
        </p:nvSpPr>
        <p:spPr>
          <a:xfrm>
            <a:off x="10241280" y="2057400"/>
            <a:ext cx="1645920" cy="8686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05288" y="2093976"/>
            <a:ext cx="1517904" cy="795528"/>
          </a:xfrm>
          <a:prstGeom prst="rect">
            <a:avLst/>
          </a:prstGeom>
          <a:noFill/>
        </p:spPr>
        <p:txBody>
          <a:bodyPr wrap="square" lIns="36576" rIns="36576" tIns="36576" bIns="36576" anchor="ctr">
            <a:spAutoFit/>
          </a:bodyPr>
          <a:lstStyle/>
          <a:p>
            <a:pPr algn="ctr">
              <a:defRPr sz="1400" b="1" i="0">
                <a:solidFill>
                  <a:srgbClr val="142F27"/>
                </a:solidFill>
                <a:latin typeface="Aptos"/>
              </a:defRPr>
            </a:pPr>
            <a:r>
              <a:t>Save &amp; show</a:t>
            </a:r>
          </a:p>
        </p:txBody>
      </p:sp>
      <p:sp>
        <p:nvSpPr>
          <p:cNvPr id="40" name="TextBox 39"/>
          <p:cNvSpPr txBox="1"/>
          <p:nvPr/>
        </p:nvSpPr>
        <p:spPr>
          <a:xfrm>
            <a:off x="10259567" y="3063240"/>
            <a:ext cx="1609344" cy="685800"/>
          </a:xfrm>
          <a:prstGeom prst="rect">
            <a:avLst/>
          </a:prstGeom>
          <a:noFill/>
        </p:spPr>
        <p:txBody>
          <a:bodyPr wrap="square" lIns="36576" rIns="36576" tIns="36576" bIns="36576" anchor="t">
            <a:spAutoFit/>
          </a:bodyPr>
          <a:lstStyle/>
          <a:p>
            <a:pPr algn="ctr">
              <a:defRPr sz="1100" b="0" i="0">
                <a:solidFill>
                  <a:srgbClr val="61736A"/>
                </a:solidFill>
                <a:latin typeface="Aptos"/>
              </a:defRPr>
            </a:pPr>
            <a:r>
              <a:t>History and dashboard update</a:t>
            </a:r>
          </a:p>
        </p:txBody>
      </p:sp>
      <p:sp>
        <p:nvSpPr>
          <p:cNvPr id="41" name="Rounded Rectangle 40"/>
          <p:cNvSpPr/>
          <p:nvPr/>
        </p:nvSpPr>
        <p:spPr>
          <a:xfrm>
            <a:off x="914400" y="4343400"/>
            <a:ext cx="4800600" cy="10972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4400" y="4389120"/>
            <a:ext cx="64008" cy="1005839"/>
          </a:xfrm>
          <a:prstGeom prst="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78992" y="4480560"/>
            <a:ext cx="4526280" cy="347472"/>
          </a:xfrm>
          <a:prstGeom prst="rect">
            <a:avLst/>
          </a:prstGeom>
          <a:noFill/>
        </p:spPr>
        <p:txBody>
          <a:bodyPr wrap="square" lIns="36576" rIns="36576" tIns="36576" bIns="36576" anchor="t">
            <a:spAutoFit/>
          </a:bodyPr>
          <a:lstStyle/>
          <a:p>
            <a:pPr>
              <a:defRPr sz="1400" b="1" i="0">
                <a:solidFill>
                  <a:srgbClr val="142F27"/>
                </a:solidFill>
                <a:latin typeface="Aptos"/>
              </a:defRPr>
            </a:pPr>
            <a:r>
              <a:t>Confidence handling</a:t>
            </a:r>
          </a:p>
        </p:txBody>
      </p:sp>
      <p:sp>
        <p:nvSpPr>
          <p:cNvPr id="44" name="TextBox 43"/>
          <p:cNvSpPr txBox="1"/>
          <p:nvPr/>
        </p:nvSpPr>
        <p:spPr>
          <a:xfrm>
            <a:off x="1078992" y="4864608"/>
            <a:ext cx="4489704" cy="475487"/>
          </a:xfrm>
          <a:prstGeom prst="rect">
            <a:avLst/>
          </a:prstGeom>
          <a:noFill/>
        </p:spPr>
        <p:txBody>
          <a:bodyPr wrap="square" lIns="36576" rIns="36576" tIns="36576" bIns="36576" anchor="t">
            <a:spAutoFit/>
          </a:bodyPr>
          <a:lstStyle/>
          <a:p>
            <a:pPr>
              <a:defRPr sz="1200" b="0" i="0">
                <a:solidFill>
                  <a:srgbClr val="27342F"/>
                </a:solidFill>
                <a:latin typeface="Aptos"/>
              </a:defRPr>
            </a:pPr>
            <a:r>
              <a:t>Show top-3 predictions and warn when the highest probability is below 60%.</a:t>
            </a:r>
          </a:p>
        </p:txBody>
      </p:sp>
      <p:sp>
        <p:nvSpPr>
          <p:cNvPr id="45" name="Rounded Rectangle 44"/>
          <p:cNvSpPr/>
          <p:nvPr/>
        </p:nvSpPr>
        <p:spPr>
          <a:xfrm>
            <a:off x="6400800" y="4343400"/>
            <a:ext cx="4800600" cy="10972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00800" y="4389120"/>
            <a:ext cx="64008" cy="1005839"/>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65392" y="4480560"/>
            <a:ext cx="4526280" cy="347472"/>
          </a:xfrm>
          <a:prstGeom prst="rect">
            <a:avLst/>
          </a:prstGeom>
          <a:noFill/>
        </p:spPr>
        <p:txBody>
          <a:bodyPr wrap="square" lIns="36576" rIns="36576" tIns="36576" bIns="36576" anchor="t">
            <a:spAutoFit/>
          </a:bodyPr>
          <a:lstStyle/>
          <a:p>
            <a:pPr>
              <a:defRPr sz="1400" b="1" i="0">
                <a:solidFill>
                  <a:srgbClr val="142F27"/>
                </a:solidFill>
                <a:latin typeface="Aptos"/>
              </a:defRPr>
            </a:pPr>
            <a:r>
              <a:t>Personal analytics</a:t>
            </a:r>
          </a:p>
        </p:txBody>
      </p:sp>
      <p:sp>
        <p:nvSpPr>
          <p:cNvPr id="48" name="TextBox 47"/>
          <p:cNvSpPr txBox="1"/>
          <p:nvPr/>
        </p:nvSpPr>
        <p:spPr>
          <a:xfrm>
            <a:off x="6565392" y="4864608"/>
            <a:ext cx="4489704" cy="475487"/>
          </a:xfrm>
          <a:prstGeom prst="rect">
            <a:avLst/>
          </a:prstGeom>
          <a:noFill/>
        </p:spPr>
        <p:txBody>
          <a:bodyPr wrap="square" lIns="36576" rIns="36576" tIns="36576" bIns="36576" anchor="t">
            <a:spAutoFit/>
          </a:bodyPr>
          <a:lstStyle/>
          <a:p>
            <a:pPr>
              <a:defRPr sz="1200" b="0" i="0">
                <a:solidFill>
                  <a:srgbClr val="27342F"/>
                </a:solidFill>
                <a:latin typeface="Aptos"/>
              </a:defRPr>
            </a:pPr>
            <a:r>
              <a:t>Save each result to the signed-in user’s history and update summary charts.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User Interface and Dashboard</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Four main pages after login</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09</a:t>
            </a:r>
          </a:p>
        </p:txBody>
      </p:sp>
      <p:sp>
        <p:nvSpPr>
          <p:cNvPr id="6" name="Rounded Rectangle 5"/>
          <p:cNvSpPr/>
          <p:nvPr/>
        </p:nvSpPr>
        <p:spPr>
          <a:xfrm>
            <a:off x="594360" y="1234440"/>
            <a:ext cx="5303520" cy="160020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280160"/>
            <a:ext cx="64008" cy="150876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371600"/>
            <a:ext cx="5029200" cy="347472"/>
          </a:xfrm>
          <a:prstGeom prst="rect">
            <a:avLst/>
          </a:prstGeom>
          <a:noFill/>
        </p:spPr>
        <p:txBody>
          <a:bodyPr wrap="square" lIns="36576" rIns="36576" tIns="36576" bIns="36576" anchor="t">
            <a:spAutoFit/>
          </a:bodyPr>
          <a:lstStyle/>
          <a:p>
            <a:pPr>
              <a:defRPr sz="1600" b="1" i="0">
                <a:solidFill>
                  <a:srgbClr val="142F27"/>
                </a:solidFill>
                <a:latin typeface="Aptos"/>
              </a:defRPr>
            </a:pPr>
            <a:r>
              <a:t>Classify page</a:t>
            </a:r>
          </a:p>
        </p:txBody>
      </p:sp>
      <p:sp>
        <p:nvSpPr>
          <p:cNvPr id="9" name="TextBox 8"/>
          <p:cNvSpPr txBox="1"/>
          <p:nvPr/>
        </p:nvSpPr>
        <p:spPr>
          <a:xfrm>
            <a:off x="758952" y="1755648"/>
            <a:ext cx="4992624" cy="978407"/>
          </a:xfrm>
          <a:prstGeom prst="rect">
            <a:avLst/>
          </a:prstGeom>
          <a:noFill/>
        </p:spPr>
        <p:txBody>
          <a:bodyPr wrap="square" lIns="36576" rIns="36576" tIns="36576" bIns="36576" anchor="t">
            <a:spAutoFit/>
          </a:bodyPr>
          <a:lstStyle/>
          <a:p>
            <a:pPr>
              <a:defRPr sz="1300" b="0" i="0">
                <a:solidFill>
                  <a:srgbClr val="27342F"/>
                </a:solidFill>
                <a:latin typeface="Aptos"/>
              </a:defRPr>
            </a:pPr>
            <a:r>
              <a:t>Drag-and-drop upload, category result, confidence, top-3 bars, bin guidance, disposal tip and recent scans.</a:t>
            </a:r>
          </a:p>
        </p:txBody>
      </p:sp>
      <p:sp>
        <p:nvSpPr>
          <p:cNvPr id="10" name="Rounded Rectangle 9"/>
          <p:cNvSpPr/>
          <p:nvPr/>
        </p:nvSpPr>
        <p:spPr>
          <a:xfrm>
            <a:off x="6263640" y="1234440"/>
            <a:ext cx="5303520" cy="160020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280160"/>
            <a:ext cx="64008" cy="1508760"/>
          </a:xfrm>
          <a:prstGeom prst="rect">
            <a:avLst/>
          </a:prstGeom>
          <a:solidFill>
            <a:srgbClr val="AFD7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1" y="1371600"/>
            <a:ext cx="5029200" cy="347472"/>
          </a:xfrm>
          <a:prstGeom prst="rect">
            <a:avLst/>
          </a:prstGeom>
          <a:noFill/>
        </p:spPr>
        <p:txBody>
          <a:bodyPr wrap="square" lIns="36576" rIns="36576" tIns="36576" bIns="36576" anchor="t">
            <a:spAutoFit/>
          </a:bodyPr>
          <a:lstStyle/>
          <a:p>
            <a:pPr>
              <a:defRPr sz="1600" b="1" i="0">
                <a:solidFill>
                  <a:srgbClr val="142F27"/>
                </a:solidFill>
                <a:latin typeface="Aptos"/>
              </a:defRPr>
            </a:pPr>
            <a:r>
              <a:t>Dashboard</a:t>
            </a:r>
          </a:p>
        </p:txBody>
      </p:sp>
      <p:sp>
        <p:nvSpPr>
          <p:cNvPr id="13" name="TextBox 12"/>
          <p:cNvSpPr txBox="1"/>
          <p:nvPr/>
        </p:nvSpPr>
        <p:spPr>
          <a:xfrm>
            <a:off x="6428231" y="1755648"/>
            <a:ext cx="4992624" cy="978407"/>
          </a:xfrm>
          <a:prstGeom prst="rect">
            <a:avLst/>
          </a:prstGeom>
          <a:noFill/>
        </p:spPr>
        <p:txBody>
          <a:bodyPr wrap="square" lIns="36576" rIns="36576" tIns="36576" bIns="36576" anchor="t">
            <a:spAutoFit/>
          </a:bodyPr>
          <a:lstStyle/>
          <a:p>
            <a:pPr>
              <a:defRPr sz="1300" b="0" i="0">
                <a:solidFill>
                  <a:srgbClr val="27342F"/>
                </a:solidFill>
                <a:latin typeface="Aptos"/>
              </a:defRPr>
            </a:pPr>
            <a:r>
              <a:t>Summary cards, category doughnut chart, daily trend chart, average confidence, estimated CO₂ savings and Eco Level.</a:t>
            </a:r>
          </a:p>
        </p:txBody>
      </p:sp>
      <p:sp>
        <p:nvSpPr>
          <p:cNvPr id="14" name="Rounded Rectangle 13"/>
          <p:cNvSpPr/>
          <p:nvPr/>
        </p:nvSpPr>
        <p:spPr>
          <a:xfrm>
            <a:off x="594360" y="3246120"/>
            <a:ext cx="5303520" cy="160020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3291839"/>
            <a:ext cx="64008" cy="1508760"/>
          </a:xfrm>
          <a:prstGeom prst="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3383279"/>
            <a:ext cx="5029200" cy="347472"/>
          </a:xfrm>
          <a:prstGeom prst="rect">
            <a:avLst/>
          </a:prstGeom>
          <a:noFill/>
        </p:spPr>
        <p:txBody>
          <a:bodyPr wrap="square" lIns="36576" rIns="36576" tIns="36576" bIns="36576" anchor="t">
            <a:spAutoFit/>
          </a:bodyPr>
          <a:lstStyle/>
          <a:p>
            <a:pPr>
              <a:defRPr sz="1600" b="1" i="0">
                <a:solidFill>
                  <a:srgbClr val="142F27"/>
                </a:solidFill>
                <a:latin typeface="Aptos"/>
              </a:defRPr>
            </a:pPr>
            <a:r>
              <a:t>History page</a:t>
            </a:r>
          </a:p>
        </p:txBody>
      </p:sp>
      <p:sp>
        <p:nvSpPr>
          <p:cNvPr id="17" name="TextBox 16"/>
          <p:cNvSpPr txBox="1"/>
          <p:nvPr/>
        </p:nvSpPr>
        <p:spPr>
          <a:xfrm>
            <a:off x="758952" y="3767328"/>
            <a:ext cx="4992624" cy="978407"/>
          </a:xfrm>
          <a:prstGeom prst="rect">
            <a:avLst/>
          </a:prstGeom>
          <a:noFill/>
        </p:spPr>
        <p:txBody>
          <a:bodyPr wrap="square" lIns="36576" rIns="36576" tIns="36576" bIns="36576" anchor="t">
            <a:spAutoFit/>
          </a:bodyPr>
          <a:lstStyle/>
          <a:p>
            <a:pPr>
              <a:defRPr sz="1300" b="0" i="0">
                <a:solidFill>
                  <a:srgbClr val="27342F"/>
                </a:solidFill>
                <a:latin typeface="Aptos"/>
              </a:defRPr>
            </a:pPr>
            <a:r>
              <a:t>Displays the latest 50 classifications and provides an Export CSV action for the full history.</a:t>
            </a:r>
          </a:p>
        </p:txBody>
      </p:sp>
      <p:sp>
        <p:nvSpPr>
          <p:cNvPr id="18" name="Rounded Rectangle 17"/>
          <p:cNvSpPr/>
          <p:nvPr/>
        </p:nvSpPr>
        <p:spPr>
          <a:xfrm>
            <a:off x="6263640" y="3246120"/>
            <a:ext cx="5303520" cy="160020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291839"/>
            <a:ext cx="64008" cy="150876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1" y="3383279"/>
            <a:ext cx="5029200" cy="347472"/>
          </a:xfrm>
          <a:prstGeom prst="rect">
            <a:avLst/>
          </a:prstGeom>
          <a:noFill/>
        </p:spPr>
        <p:txBody>
          <a:bodyPr wrap="square" lIns="36576" rIns="36576" tIns="36576" bIns="36576" anchor="t">
            <a:spAutoFit/>
          </a:bodyPr>
          <a:lstStyle/>
          <a:p>
            <a:pPr>
              <a:defRPr sz="1600" b="1" i="0">
                <a:solidFill>
                  <a:srgbClr val="142F27"/>
                </a:solidFill>
                <a:latin typeface="Aptos"/>
              </a:defRPr>
            </a:pPr>
            <a:r>
              <a:t>Categories page</a:t>
            </a:r>
          </a:p>
        </p:txBody>
      </p:sp>
      <p:sp>
        <p:nvSpPr>
          <p:cNvPr id="21" name="TextBox 20"/>
          <p:cNvSpPr txBox="1"/>
          <p:nvPr/>
        </p:nvSpPr>
        <p:spPr>
          <a:xfrm>
            <a:off x="6428231" y="3767328"/>
            <a:ext cx="4992624" cy="978407"/>
          </a:xfrm>
          <a:prstGeom prst="rect">
            <a:avLst/>
          </a:prstGeom>
          <a:noFill/>
        </p:spPr>
        <p:txBody>
          <a:bodyPr wrap="square" lIns="36576" rIns="36576" tIns="36576" bIns="36576" anchor="t">
            <a:spAutoFit/>
          </a:bodyPr>
          <a:lstStyle/>
          <a:p>
            <a:pPr>
              <a:defRPr sz="1300" b="0" i="0">
                <a:solidFill>
                  <a:srgbClr val="27342F"/>
                </a:solidFill>
                <a:latin typeface="Aptos"/>
              </a:defRPr>
            </a:pPr>
            <a:r>
              <a:t>Explains how the model decides and presents information about the six waste categories, including per-class F1 scores.</a:t>
            </a:r>
          </a:p>
        </p:txBody>
      </p:sp>
      <p:sp>
        <p:nvSpPr>
          <p:cNvPr id="22" name="TextBox 21"/>
          <p:cNvSpPr txBox="1"/>
          <p:nvPr/>
        </p:nvSpPr>
        <p:spPr>
          <a:xfrm>
            <a:off x="777240" y="5349240"/>
            <a:ext cx="10607040" cy="502920"/>
          </a:xfrm>
          <a:prstGeom prst="rect">
            <a:avLst/>
          </a:prstGeom>
          <a:noFill/>
        </p:spPr>
        <p:txBody>
          <a:bodyPr wrap="square" lIns="36576" rIns="36576" tIns="36576" bIns="36576" anchor="t">
            <a:spAutoFit/>
          </a:bodyPr>
          <a:lstStyle/>
          <a:p>
            <a:pPr algn="ctr">
              <a:defRPr sz="1200" b="0" i="1">
                <a:solidFill>
                  <a:srgbClr val="61736A"/>
                </a:solidFill>
                <a:latin typeface="Aptos"/>
              </a:defRPr>
            </a:pPr>
            <a:r>
              <a:t>The report appendix contains the application screenshots: Register, Login, Classify, Dashboard, History and Categories.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Testing and Model Evaluation</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Functional tests passed in the local build</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10</a:t>
            </a:r>
          </a:p>
        </p:txBody>
      </p:sp>
      <p:sp>
        <p:nvSpPr>
          <p:cNvPr id="6" name="Rounded Rectangle 5"/>
          <p:cNvSpPr/>
          <p:nvPr/>
        </p:nvSpPr>
        <p:spPr>
          <a:xfrm>
            <a:off x="731520" y="1234440"/>
            <a:ext cx="3246120" cy="13258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17320"/>
            <a:ext cx="2971800" cy="548640"/>
          </a:xfrm>
          <a:prstGeom prst="rect">
            <a:avLst/>
          </a:prstGeom>
          <a:noFill/>
        </p:spPr>
        <p:txBody>
          <a:bodyPr wrap="square" lIns="36576" rIns="36576" tIns="36576" bIns="36576" anchor="t">
            <a:spAutoFit/>
          </a:bodyPr>
          <a:lstStyle/>
          <a:p>
            <a:pPr algn="ctr">
              <a:defRPr sz="2800" b="1" i="0">
                <a:solidFill>
                  <a:srgbClr val="237E53"/>
                </a:solidFill>
                <a:latin typeface="Aptos"/>
              </a:defRPr>
            </a:pPr>
            <a:r>
              <a:t>12/12</a:t>
            </a:r>
          </a:p>
        </p:txBody>
      </p:sp>
      <p:sp>
        <p:nvSpPr>
          <p:cNvPr id="8" name="TextBox 7"/>
          <p:cNvSpPr txBox="1"/>
          <p:nvPr/>
        </p:nvSpPr>
        <p:spPr>
          <a:xfrm>
            <a:off x="868680" y="2011680"/>
            <a:ext cx="2971800" cy="320040"/>
          </a:xfrm>
          <a:prstGeom prst="rect">
            <a:avLst/>
          </a:prstGeom>
          <a:noFill/>
        </p:spPr>
        <p:txBody>
          <a:bodyPr wrap="square" lIns="36576" rIns="36576" tIns="36576" bIns="36576" anchor="t">
            <a:spAutoFit/>
          </a:bodyPr>
          <a:lstStyle/>
          <a:p>
            <a:pPr algn="ctr">
              <a:defRPr sz="1100" b="0" i="0">
                <a:solidFill>
                  <a:srgbClr val="61736A"/>
                </a:solidFill>
                <a:latin typeface="Aptos"/>
              </a:defRPr>
            </a:pPr>
            <a:r>
              <a:t>Functional test cases passed</a:t>
            </a:r>
          </a:p>
        </p:txBody>
      </p:sp>
      <p:sp>
        <p:nvSpPr>
          <p:cNvPr id="9" name="Rounded Rectangle 8"/>
          <p:cNvSpPr/>
          <p:nvPr/>
        </p:nvSpPr>
        <p:spPr>
          <a:xfrm>
            <a:off x="4434840" y="1234440"/>
            <a:ext cx="3246120" cy="13258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417320"/>
            <a:ext cx="2971800" cy="548640"/>
          </a:xfrm>
          <a:prstGeom prst="rect">
            <a:avLst/>
          </a:prstGeom>
          <a:noFill/>
        </p:spPr>
        <p:txBody>
          <a:bodyPr wrap="square" lIns="36576" rIns="36576" tIns="36576" bIns="36576" anchor="t">
            <a:spAutoFit/>
          </a:bodyPr>
          <a:lstStyle/>
          <a:p>
            <a:pPr algn="ctr">
              <a:defRPr sz="2800" b="1" i="0">
                <a:solidFill>
                  <a:srgbClr val="E69C45"/>
                </a:solidFill>
                <a:latin typeface="Aptos"/>
              </a:defRPr>
            </a:pPr>
            <a:r>
              <a:t>84.2%</a:t>
            </a:r>
          </a:p>
        </p:txBody>
      </p:sp>
      <p:sp>
        <p:nvSpPr>
          <p:cNvPr id="11" name="TextBox 10"/>
          <p:cNvSpPr txBox="1"/>
          <p:nvPr/>
        </p:nvSpPr>
        <p:spPr>
          <a:xfrm>
            <a:off x="4572000" y="2011680"/>
            <a:ext cx="2971800" cy="320040"/>
          </a:xfrm>
          <a:prstGeom prst="rect">
            <a:avLst/>
          </a:prstGeom>
          <a:noFill/>
        </p:spPr>
        <p:txBody>
          <a:bodyPr wrap="square" lIns="36576" rIns="36576" tIns="36576" bIns="36576" anchor="t">
            <a:spAutoFit/>
          </a:bodyPr>
          <a:lstStyle/>
          <a:p>
            <a:pPr algn="ctr">
              <a:defRPr sz="1100" b="0" i="0">
                <a:solidFill>
                  <a:srgbClr val="61736A"/>
                </a:solidFill>
                <a:latin typeface="Aptos"/>
              </a:defRPr>
            </a:pPr>
            <a:r>
              <a:t>Baseline accuracy</a:t>
            </a:r>
          </a:p>
        </p:txBody>
      </p:sp>
      <p:sp>
        <p:nvSpPr>
          <p:cNvPr id="12" name="Rounded Rectangle 11"/>
          <p:cNvSpPr/>
          <p:nvPr/>
        </p:nvSpPr>
        <p:spPr>
          <a:xfrm>
            <a:off x="8138160" y="1234440"/>
            <a:ext cx="3246120" cy="132588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417320"/>
            <a:ext cx="2971800" cy="548640"/>
          </a:xfrm>
          <a:prstGeom prst="rect">
            <a:avLst/>
          </a:prstGeom>
          <a:noFill/>
        </p:spPr>
        <p:txBody>
          <a:bodyPr wrap="square" lIns="36576" rIns="36576" tIns="36576" bIns="36576" anchor="t">
            <a:spAutoFit/>
          </a:bodyPr>
          <a:lstStyle/>
          <a:p>
            <a:pPr algn="ctr">
              <a:defRPr sz="2800" b="1" i="0">
                <a:solidFill>
                  <a:srgbClr val="237E53"/>
                </a:solidFill>
                <a:latin typeface="Aptos"/>
              </a:defRPr>
            </a:pPr>
            <a:r>
              <a:t>92.1%</a:t>
            </a:r>
          </a:p>
        </p:txBody>
      </p:sp>
      <p:sp>
        <p:nvSpPr>
          <p:cNvPr id="14" name="TextBox 13"/>
          <p:cNvSpPr txBox="1"/>
          <p:nvPr/>
        </p:nvSpPr>
        <p:spPr>
          <a:xfrm>
            <a:off x="8275320" y="2011680"/>
            <a:ext cx="2971800" cy="320040"/>
          </a:xfrm>
          <a:prstGeom prst="rect">
            <a:avLst/>
          </a:prstGeom>
          <a:noFill/>
        </p:spPr>
        <p:txBody>
          <a:bodyPr wrap="square" lIns="36576" rIns="36576" tIns="36576" bIns="36576" anchor="t">
            <a:spAutoFit/>
          </a:bodyPr>
          <a:lstStyle/>
          <a:p>
            <a:pPr algn="ctr">
              <a:defRPr sz="1100" b="0" i="0">
                <a:solidFill>
                  <a:srgbClr val="61736A"/>
                </a:solidFill>
                <a:latin typeface="Aptos"/>
              </a:defRPr>
            </a:pPr>
            <a:r>
              <a:t>Improved model accuracy</a:t>
            </a:r>
          </a:p>
        </p:txBody>
      </p:sp>
      <p:sp>
        <p:nvSpPr>
          <p:cNvPr id="15" name="TextBox 14"/>
          <p:cNvSpPr txBox="1"/>
          <p:nvPr/>
        </p:nvSpPr>
        <p:spPr>
          <a:xfrm>
            <a:off x="777240" y="2880360"/>
            <a:ext cx="5212080" cy="411480"/>
          </a:xfrm>
          <a:prstGeom prst="rect">
            <a:avLst/>
          </a:prstGeom>
          <a:noFill/>
        </p:spPr>
        <p:txBody>
          <a:bodyPr wrap="square" lIns="36576" rIns="36576" tIns="36576" bIns="36576" anchor="t">
            <a:spAutoFit/>
          </a:bodyPr>
          <a:lstStyle/>
          <a:p>
            <a:pPr>
              <a:defRPr sz="1700" b="1" i="0">
                <a:solidFill>
                  <a:srgbClr val="142F27"/>
                </a:solidFill>
                <a:latin typeface="Aptos"/>
              </a:defRPr>
            </a:pPr>
            <a:r>
              <a:t>Examples of tested scenarios</a:t>
            </a:r>
          </a:p>
        </p:txBody>
      </p:sp>
      <p:sp>
        <p:nvSpPr>
          <p:cNvPr id="16" name="TextBox 15"/>
          <p:cNvSpPr txBox="1"/>
          <p:nvPr/>
        </p:nvSpPr>
        <p:spPr>
          <a:xfrm>
            <a:off x="777240" y="3337560"/>
            <a:ext cx="5303520" cy="2057400"/>
          </a:xfrm>
          <a:prstGeom prst="rect">
            <a:avLst/>
          </a:prstGeom>
          <a:noFill/>
        </p:spPr>
        <p:txBody>
          <a:bodyPr wrap="square" lIns="73152" rIns="54864" tIns="36576" bIns="18288">
            <a:spAutoFit/>
          </a:bodyPr>
          <a:lstStyle/>
          <a:p>
            <a:pPr>
              <a:spcAft>
                <a:spcPts val="700"/>
              </a:spcAft>
              <a:defRPr sz="1300">
                <a:solidFill>
                  <a:srgbClr val="27342F"/>
                </a:solidFill>
                <a:latin typeface="Aptos"/>
              </a:defRPr>
            </a:pPr>
            <a:r>
              <a:t>•  Valid registration and login</a:t>
            </a:r>
          </a:p>
          <a:p>
            <a:pPr>
              <a:spcAft>
                <a:spcPts val="700"/>
              </a:spcAft>
              <a:defRPr sz="1300">
                <a:solidFill>
                  <a:srgbClr val="27342F"/>
                </a:solidFill>
                <a:latin typeface="Aptos"/>
              </a:defRPr>
            </a:pPr>
            <a:r>
              <a:t>•  Wrong password and duplicate email</a:t>
            </a:r>
          </a:p>
          <a:p>
            <a:pPr>
              <a:spcAft>
                <a:spcPts val="700"/>
              </a:spcAft>
              <a:defRPr sz="1300">
                <a:solidFill>
                  <a:srgbClr val="27342F"/>
                </a:solidFill>
                <a:latin typeface="Aptos"/>
              </a:defRPr>
            </a:pPr>
            <a:r>
              <a:t>•  Valid and invalid image uploads</a:t>
            </a:r>
          </a:p>
          <a:p>
            <a:pPr>
              <a:spcAft>
                <a:spcPts val="700"/>
              </a:spcAft>
              <a:defRPr sz="1300">
                <a:solidFill>
                  <a:srgbClr val="27342F"/>
                </a:solidFill>
                <a:latin typeface="Aptos"/>
              </a:defRPr>
            </a:pPr>
            <a:r>
              <a:t>•  Low-confidence warning</a:t>
            </a:r>
          </a:p>
          <a:p>
            <a:pPr>
              <a:spcAft>
                <a:spcPts val="700"/>
              </a:spcAft>
              <a:defRPr sz="1300">
                <a:solidFill>
                  <a:srgbClr val="27342F"/>
                </a:solidFill>
                <a:latin typeface="Aptos"/>
              </a:defRPr>
            </a:pPr>
            <a:r>
              <a:t>•  Dashboard and CSV export</a:t>
            </a:r>
          </a:p>
          <a:p>
            <a:pPr>
              <a:spcAft>
                <a:spcPts val="700"/>
              </a:spcAft>
              <a:defRPr sz="1300">
                <a:solidFill>
                  <a:srgbClr val="27342F"/>
                </a:solidFill>
                <a:latin typeface="Aptos"/>
              </a:defRPr>
            </a:pPr>
            <a:r>
              <a:t>•  User isolation and missing-token rejection</a:t>
            </a:r>
          </a:p>
        </p:txBody>
      </p:sp>
      <p:sp>
        <p:nvSpPr>
          <p:cNvPr id="17" name="TextBox 16"/>
          <p:cNvSpPr txBox="1"/>
          <p:nvPr/>
        </p:nvSpPr>
        <p:spPr>
          <a:xfrm>
            <a:off x="6400800" y="2880360"/>
            <a:ext cx="4754880" cy="411480"/>
          </a:xfrm>
          <a:prstGeom prst="rect">
            <a:avLst/>
          </a:prstGeom>
          <a:noFill/>
        </p:spPr>
        <p:txBody>
          <a:bodyPr wrap="square" lIns="36576" rIns="36576" tIns="36576" bIns="36576" anchor="t">
            <a:spAutoFit/>
          </a:bodyPr>
          <a:lstStyle/>
          <a:p>
            <a:pPr>
              <a:defRPr sz="1700" b="1" i="0">
                <a:solidFill>
                  <a:srgbClr val="142F27"/>
                </a:solidFill>
                <a:latin typeface="Aptos"/>
              </a:defRPr>
            </a:pPr>
            <a:r>
              <a:t>Improved model: class F1-score</a:t>
            </a:r>
          </a:p>
        </p:txBody>
      </p:sp>
      <p:sp>
        <p:nvSpPr>
          <p:cNvPr id="18" name="TextBox 17"/>
          <p:cNvSpPr txBox="1"/>
          <p:nvPr/>
        </p:nvSpPr>
        <p:spPr>
          <a:xfrm>
            <a:off x="6400800" y="3429000"/>
            <a:ext cx="1051560" cy="228600"/>
          </a:xfrm>
          <a:prstGeom prst="rect">
            <a:avLst/>
          </a:prstGeom>
          <a:noFill/>
        </p:spPr>
        <p:txBody>
          <a:bodyPr wrap="square" lIns="36576" rIns="36576" tIns="36576" bIns="36576" anchor="t">
            <a:spAutoFit/>
          </a:bodyPr>
          <a:lstStyle/>
          <a:p>
            <a:pPr>
              <a:defRPr sz="1100" b="0" i="0">
                <a:solidFill>
                  <a:srgbClr val="27342F"/>
                </a:solidFill>
                <a:latin typeface="Aptos"/>
              </a:defRPr>
            </a:pPr>
            <a:r>
              <a:t>Cardboard</a:t>
            </a:r>
          </a:p>
        </p:txBody>
      </p:sp>
      <p:sp>
        <p:nvSpPr>
          <p:cNvPr id="19" name="Rounded Rectangle 18"/>
          <p:cNvSpPr/>
          <p:nvPr/>
        </p:nvSpPr>
        <p:spPr>
          <a:xfrm>
            <a:off x="7498079" y="3447288"/>
            <a:ext cx="3063240" cy="173736"/>
          </a:xfrm>
          <a:prstGeom prst="roundRect">
            <a:avLst/>
          </a:prstGeom>
          <a:solidFill>
            <a:srgbClr val="D7E2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498079" y="3447288"/>
            <a:ext cx="2983595" cy="173736"/>
          </a:xfrm>
          <a:prstGeom prst="round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0" y="3410712"/>
            <a:ext cx="594360" cy="228600"/>
          </a:xfrm>
          <a:prstGeom prst="rect">
            <a:avLst/>
          </a:prstGeom>
          <a:noFill/>
        </p:spPr>
        <p:txBody>
          <a:bodyPr wrap="square" lIns="36576" rIns="36576" tIns="36576" bIns="36576" anchor="t">
            <a:spAutoFit/>
          </a:bodyPr>
          <a:lstStyle/>
          <a:p>
            <a:pPr algn="r">
              <a:defRPr sz="1000" b="1" i="0">
                <a:solidFill>
                  <a:srgbClr val="142F27"/>
                </a:solidFill>
                <a:latin typeface="Aptos"/>
              </a:defRPr>
            </a:pPr>
            <a:r>
              <a:t>0.974</a:t>
            </a:r>
          </a:p>
        </p:txBody>
      </p:sp>
      <p:sp>
        <p:nvSpPr>
          <p:cNvPr id="22" name="TextBox 21"/>
          <p:cNvSpPr txBox="1"/>
          <p:nvPr/>
        </p:nvSpPr>
        <p:spPr>
          <a:xfrm>
            <a:off x="6400800" y="3822191"/>
            <a:ext cx="1051560" cy="228600"/>
          </a:xfrm>
          <a:prstGeom prst="rect">
            <a:avLst/>
          </a:prstGeom>
          <a:noFill/>
        </p:spPr>
        <p:txBody>
          <a:bodyPr wrap="square" lIns="36576" rIns="36576" tIns="36576" bIns="36576" anchor="t">
            <a:spAutoFit/>
          </a:bodyPr>
          <a:lstStyle/>
          <a:p>
            <a:pPr>
              <a:defRPr sz="1100" b="0" i="0">
                <a:solidFill>
                  <a:srgbClr val="27342F"/>
                </a:solidFill>
                <a:latin typeface="Aptos"/>
              </a:defRPr>
            </a:pPr>
            <a:r>
              <a:t>Glass</a:t>
            </a:r>
          </a:p>
        </p:txBody>
      </p:sp>
      <p:sp>
        <p:nvSpPr>
          <p:cNvPr id="23" name="Rounded Rectangle 22"/>
          <p:cNvSpPr/>
          <p:nvPr/>
        </p:nvSpPr>
        <p:spPr>
          <a:xfrm>
            <a:off x="7498079" y="3840479"/>
            <a:ext cx="3063240" cy="173736"/>
          </a:xfrm>
          <a:prstGeom prst="roundRect">
            <a:avLst/>
          </a:prstGeom>
          <a:solidFill>
            <a:srgbClr val="D7E2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98079" y="3840479"/>
            <a:ext cx="2766105" cy="173736"/>
          </a:xfrm>
          <a:prstGeom prst="round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98480" y="3803904"/>
            <a:ext cx="594360" cy="228600"/>
          </a:xfrm>
          <a:prstGeom prst="rect">
            <a:avLst/>
          </a:prstGeom>
          <a:noFill/>
        </p:spPr>
        <p:txBody>
          <a:bodyPr wrap="square" lIns="36576" rIns="36576" tIns="36576" bIns="36576" anchor="t">
            <a:spAutoFit/>
          </a:bodyPr>
          <a:lstStyle/>
          <a:p>
            <a:pPr algn="r">
              <a:defRPr sz="1000" b="1" i="0">
                <a:solidFill>
                  <a:srgbClr val="142F27"/>
                </a:solidFill>
                <a:latin typeface="Aptos"/>
              </a:defRPr>
            </a:pPr>
            <a:r>
              <a:t>0.903</a:t>
            </a:r>
          </a:p>
        </p:txBody>
      </p:sp>
      <p:sp>
        <p:nvSpPr>
          <p:cNvPr id="26" name="TextBox 25"/>
          <p:cNvSpPr txBox="1"/>
          <p:nvPr/>
        </p:nvSpPr>
        <p:spPr>
          <a:xfrm>
            <a:off x="6400800" y="4215384"/>
            <a:ext cx="1051560" cy="228600"/>
          </a:xfrm>
          <a:prstGeom prst="rect">
            <a:avLst/>
          </a:prstGeom>
          <a:noFill/>
        </p:spPr>
        <p:txBody>
          <a:bodyPr wrap="square" lIns="36576" rIns="36576" tIns="36576" bIns="36576" anchor="t">
            <a:spAutoFit/>
          </a:bodyPr>
          <a:lstStyle/>
          <a:p>
            <a:pPr>
              <a:defRPr sz="1100" b="0" i="0">
                <a:solidFill>
                  <a:srgbClr val="27342F"/>
                </a:solidFill>
                <a:latin typeface="Aptos"/>
              </a:defRPr>
            </a:pPr>
            <a:r>
              <a:t>Metal</a:t>
            </a:r>
          </a:p>
        </p:txBody>
      </p:sp>
      <p:sp>
        <p:nvSpPr>
          <p:cNvPr id="27" name="Rounded Rectangle 26"/>
          <p:cNvSpPr/>
          <p:nvPr/>
        </p:nvSpPr>
        <p:spPr>
          <a:xfrm>
            <a:off x="7498079" y="4233672"/>
            <a:ext cx="3063240" cy="173736"/>
          </a:xfrm>
          <a:prstGeom prst="roundRect">
            <a:avLst/>
          </a:prstGeom>
          <a:solidFill>
            <a:srgbClr val="D7E2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98079" y="4233672"/>
            <a:ext cx="2900888" cy="173736"/>
          </a:xfrm>
          <a:prstGeom prst="round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98480" y="4197096"/>
            <a:ext cx="594360" cy="228600"/>
          </a:xfrm>
          <a:prstGeom prst="rect">
            <a:avLst/>
          </a:prstGeom>
          <a:noFill/>
        </p:spPr>
        <p:txBody>
          <a:bodyPr wrap="square" lIns="36576" rIns="36576" tIns="36576" bIns="36576" anchor="t">
            <a:spAutoFit/>
          </a:bodyPr>
          <a:lstStyle/>
          <a:p>
            <a:pPr algn="r">
              <a:defRPr sz="1000" b="1" i="0">
                <a:solidFill>
                  <a:srgbClr val="142F27"/>
                </a:solidFill>
                <a:latin typeface="Aptos"/>
              </a:defRPr>
            </a:pPr>
            <a:r>
              <a:t>0.947</a:t>
            </a:r>
          </a:p>
        </p:txBody>
      </p:sp>
      <p:sp>
        <p:nvSpPr>
          <p:cNvPr id="30" name="TextBox 29"/>
          <p:cNvSpPr txBox="1"/>
          <p:nvPr/>
        </p:nvSpPr>
        <p:spPr>
          <a:xfrm>
            <a:off x="6400800" y="4608576"/>
            <a:ext cx="1051560" cy="228600"/>
          </a:xfrm>
          <a:prstGeom prst="rect">
            <a:avLst/>
          </a:prstGeom>
          <a:noFill/>
        </p:spPr>
        <p:txBody>
          <a:bodyPr wrap="square" lIns="36576" rIns="36576" tIns="36576" bIns="36576" anchor="t">
            <a:spAutoFit/>
          </a:bodyPr>
          <a:lstStyle/>
          <a:p>
            <a:pPr>
              <a:defRPr sz="1100" b="0" i="0">
                <a:solidFill>
                  <a:srgbClr val="27342F"/>
                </a:solidFill>
                <a:latin typeface="Aptos"/>
              </a:defRPr>
            </a:pPr>
            <a:r>
              <a:t>Paper</a:t>
            </a:r>
          </a:p>
        </p:txBody>
      </p:sp>
      <p:sp>
        <p:nvSpPr>
          <p:cNvPr id="31" name="Rounded Rectangle 30"/>
          <p:cNvSpPr/>
          <p:nvPr/>
        </p:nvSpPr>
        <p:spPr>
          <a:xfrm>
            <a:off x="7498079" y="4626864"/>
            <a:ext cx="3063240" cy="173736"/>
          </a:xfrm>
          <a:prstGeom prst="roundRect">
            <a:avLst/>
          </a:prstGeom>
          <a:solidFill>
            <a:srgbClr val="D7E2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498079" y="4626864"/>
            <a:ext cx="2873319" cy="173736"/>
          </a:xfrm>
          <a:prstGeom prst="round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98480" y="4590288"/>
            <a:ext cx="594360" cy="228600"/>
          </a:xfrm>
          <a:prstGeom prst="rect">
            <a:avLst/>
          </a:prstGeom>
          <a:noFill/>
        </p:spPr>
        <p:txBody>
          <a:bodyPr wrap="square" lIns="36576" rIns="36576" tIns="36576" bIns="36576" anchor="t">
            <a:spAutoFit/>
          </a:bodyPr>
          <a:lstStyle/>
          <a:p>
            <a:pPr algn="r">
              <a:defRPr sz="1000" b="1" i="0">
                <a:solidFill>
                  <a:srgbClr val="142F27"/>
                </a:solidFill>
                <a:latin typeface="Aptos"/>
              </a:defRPr>
            </a:pPr>
            <a:r>
              <a:t>0.938</a:t>
            </a:r>
          </a:p>
        </p:txBody>
      </p:sp>
      <p:sp>
        <p:nvSpPr>
          <p:cNvPr id="34" name="TextBox 33"/>
          <p:cNvSpPr txBox="1"/>
          <p:nvPr/>
        </p:nvSpPr>
        <p:spPr>
          <a:xfrm>
            <a:off x="6400800" y="5001768"/>
            <a:ext cx="1051560" cy="228600"/>
          </a:xfrm>
          <a:prstGeom prst="rect">
            <a:avLst/>
          </a:prstGeom>
          <a:noFill/>
        </p:spPr>
        <p:txBody>
          <a:bodyPr wrap="square" lIns="36576" rIns="36576" tIns="36576" bIns="36576" anchor="t">
            <a:spAutoFit/>
          </a:bodyPr>
          <a:lstStyle/>
          <a:p>
            <a:pPr>
              <a:defRPr sz="1100" b="0" i="0">
                <a:solidFill>
                  <a:srgbClr val="27342F"/>
                </a:solidFill>
                <a:latin typeface="Aptos"/>
              </a:defRPr>
            </a:pPr>
            <a:r>
              <a:t>Plastic</a:t>
            </a:r>
          </a:p>
        </p:txBody>
      </p:sp>
      <p:sp>
        <p:nvSpPr>
          <p:cNvPr id="35" name="Rounded Rectangle 34"/>
          <p:cNvSpPr/>
          <p:nvPr/>
        </p:nvSpPr>
        <p:spPr>
          <a:xfrm>
            <a:off x="7498079" y="5020055"/>
            <a:ext cx="3063240" cy="173736"/>
          </a:xfrm>
          <a:prstGeom prst="roundRect">
            <a:avLst/>
          </a:prstGeom>
          <a:solidFill>
            <a:srgbClr val="D7E2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498079" y="5020055"/>
            <a:ext cx="2698714" cy="173736"/>
          </a:xfrm>
          <a:prstGeom prst="round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98480" y="4983480"/>
            <a:ext cx="594360" cy="228600"/>
          </a:xfrm>
          <a:prstGeom prst="rect">
            <a:avLst/>
          </a:prstGeom>
          <a:noFill/>
        </p:spPr>
        <p:txBody>
          <a:bodyPr wrap="square" lIns="36576" rIns="36576" tIns="36576" bIns="36576" anchor="t">
            <a:spAutoFit/>
          </a:bodyPr>
          <a:lstStyle/>
          <a:p>
            <a:pPr algn="r">
              <a:defRPr sz="1000" b="1" i="0">
                <a:solidFill>
                  <a:srgbClr val="142F27"/>
                </a:solidFill>
                <a:latin typeface="Aptos"/>
              </a:defRPr>
            </a:pPr>
            <a:r>
              <a:t>0.881</a:t>
            </a:r>
          </a:p>
        </p:txBody>
      </p:sp>
      <p:sp>
        <p:nvSpPr>
          <p:cNvPr id="38" name="TextBox 37"/>
          <p:cNvSpPr txBox="1"/>
          <p:nvPr/>
        </p:nvSpPr>
        <p:spPr>
          <a:xfrm>
            <a:off x="6400800" y="5394960"/>
            <a:ext cx="1051560" cy="228600"/>
          </a:xfrm>
          <a:prstGeom prst="rect">
            <a:avLst/>
          </a:prstGeom>
          <a:noFill/>
        </p:spPr>
        <p:txBody>
          <a:bodyPr wrap="square" lIns="36576" rIns="36576" tIns="36576" bIns="36576" anchor="t">
            <a:spAutoFit/>
          </a:bodyPr>
          <a:lstStyle/>
          <a:p>
            <a:pPr>
              <a:defRPr sz="1100" b="0" i="0">
                <a:solidFill>
                  <a:srgbClr val="27342F"/>
                </a:solidFill>
                <a:latin typeface="Aptos"/>
              </a:defRPr>
            </a:pPr>
            <a:r>
              <a:t>Trash</a:t>
            </a:r>
          </a:p>
        </p:txBody>
      </p:sp>
      <p:sp>
        <p:nvSpPr>
          <p:cNvPr id="39" name="Rounded Rectangle 38"/>
          <p:cNvSpPr/>
          <p:nvPr/>
        </p:nvSpPr>
        <p:spPr>
          <a:xfrm>
            <a:off x="7498079" y="5413248"/>
            <a:ext cx="3063240" cy="173736"/>
          </a:xfrm>
          <a:prstGeom prst="roundRect">
            <a:avLst/>
          </a:prstGeom>
          <a:solidFill>
            <a:srgbClr val="D7E2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498079" y="5413248"/>
            <a:ext cx="2576184" cy="173736"/>
          </a:xfrm>
          <a:prstGeom prst="round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98480" y="5376672"/>
            <a:ext cx="594360" cy="228600"/>
          </a:xfrm>
          <a:prstGeom prst="rect">
            <a:avLst/>
          </a:prstGeom>
          <a:noFill/>
        </p:spPr>
        <p:txBody>
          <a:bodyPr wrap="square" lIns="36576" rIns="36576" tIns="36576" bIns="36576" anchor="t">
            <a:spAutoFit/>
          </a:bodyPr>
          <a:lstStyle/>
          <a:p>
            <a:pPr algn="r">
              <a:defRPr sz="1000" b="1" i="0">
                <a:solidFill>
                  <a:srgbClr val="142F27"/>
                </a:solidFill>
                <a:latin typeface="Aptos"/>
              </a:defRPr>
            </a:pPr>
            <a:r>
              <a:t>0.841</a:t>
            </a:r>
          </a:p>
        </p:txBody>
      </p:sp>
      <p:sp>
        <p:nvSpPr>
          <p:cNvPr id="42" name="TextBox 41"/>
          <p:cNvSpPr txBox="1"/>
          <p:nvPr/>
        </p:nvSpPr>
        <p:spPr>
          <a:xfrm>
            <a:off x="777240" y="5943600"/>
            <a:ext cx="10515600" cy="256032"/>
          </a:xfrm>
          <a:prstGeom prst="rect">
            <a:avLst/>
          </a:prstGeom>
          <a:noFill/>
        </p:spPr>
        <p:txBody>
          <a:bodyPr wrap="square" lIns="36576" rIns="36576" tIns="36576" bIns="36576" anchor="t">
            <a:spAutoFit/>
          </a:bodyPr>
          <a:lstStyle/>
          <a:p>
            <a:pPr>
              <a:defRPr sz="1000" b="0" i="1">
                <a:solidFill>
                  <a:srgbClr val="61736A"/>
                </a:solidFill>
                <a:latin typeface="Aptos"/>
              </a:defRPr>
            </a:pPr>
            <a:r>
              <a:t>Real-world observations exposed domain shift: reflective cans and cluttered scenes can be harder than TrashNet-style images.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9F6"/>
        </a:solidFill>
        <a:effectLst/>
      </p:bgPr>
    </p:bg>
    <p:spTree>
      <p:nvGrpSpPr>
        <p:cNvPr id="1" name=""/>
        <p:cNvGrpSpPr/>
        <p:nvPr/>
      </p:nvGrpSpPr>
      <p:grpSpPr/>
      <p:sp>
        <p:nvSpPr>
          <p:cNvPr id="2" name="TextBox 1"/>
          <p:cNvSpPr txBox="1"/>
          <p:nvPr/>
        </p:nvSpPr>
        <p:spPr>
          <a:xfrm>
            <a:off x="502920" y="274320"/>
            <a:ext cx="11064240" cy="502920"/>
          </a:xfrm>
          <a:prstGeom prst="rect">
            <a:avLst/>
          </a:prstGeom>
          <a:noFill/>
        </p:spPr>
        <p:txBody>
          <a:bodyPr wrap="square" lIns="36576" rIns="36576" tIns="36576" bIns="36576" anchor="t">
            <a:spAutoFit/>
          </a:bodyPr>
          <a:lstStyle/>
          <a:p>
            <a:pPr>
              <a:defRPr sz="2700" b="1" i="0">
                <a:solidFill>
                  <a:srgbClr val="142F27"/>
                </a:solidFill>
                <a:latin typeface="Aptos"/>
              </a:defRPr>
            </a:pPr>
            <a:r>
              <a:t>Limitations and Future Scope</a:t>
            </a:r>
          </a:p>
        </p:txBody>
      </p:sp>
      <p:sp>
        <p:nvSpPr>
          <p:cNvPr id="3" name="Rectangle 2"/>
          <p:cNvSpPr/>
          <p:nvPr/>
        </p:nvSpPr>
        <p:spPr>
          <a:xfrm>
            <a:off x="530352" y="850392"/>
            <a:ext cx="914400" cy="50292"/>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72768" y="749808"/>
            <a:ext cx="9875520" cy="256032"/>
          </a:xfrm>
          <a:prstGeom prst="rect">
            <a:avLst/>
          </a:prstGeom>
          <a:noFill/>
        </p:spPr>
        <p:txBody>
          <a:bodyPr wrap="square" lIns="36576" rIns="36576" tIns="36576" bIns="36576" anchor="t">
            <a:spAutoFit/>
          </a:bodyPr>
          <a:lstStyle/>
          <a:p>
            <a:pPr>
              <a:defRPr sz="1000" b="0" i="0">
                <a:solidFill>
                  <a:srgbClr val="61736A"/>
                </a:solidFill>
                <a:latin typeface="Aptos"/>
              </a:defRPr>
            </a:pPr>
            <a:r>
              <a:t>Current prototype boundaries and next improvements</a:t>
            </a:r>
          </a:p>
        </p:txBody>
      </p:sp>
      <p:sp>
        <p:nvSpPr>
          <p:cNvPr id="5" name="TextBox 4"/>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61736A"/>
                </a:solidFill>
                <a:latin typeface="Aptos"/>
              </a:defRPr>
            </a:pPr>
            <a:r>
              <a:t>11</a:t>
            </a:r>
          </a:p>
        </p:txBody>
      </p:sp>
      <p:sp>
        <p:nvSpPr>
          <p:cNvPr id="6" name="Rounded Rectangle 5"/>
          <p:cNvSpPr/>
          <p:nvPr/>
        </p:nvSpPr>
        <p:spPr>
          <a:xfrm>
            <a:off x="594360" y="1234440"/>
            <a:ext cx="5349240" cy="448056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280160"/>
            <a:ext cx="64008" cy="4389120"/>
          </a:xfrm>
          <a:prstGeom prst="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371600"/>
            <a:ext cx="5074920" cy="347472"/>
          </a:xfrm>
          <a:prstGeom prst="rect">
            <a:avLst/>
          </a:prstGeom>
          <a:noFill/>
        </p:spPr>
        <p:txBody>
          <a:bodyPr wrap="square" lIns="36576" rIns="36576" tIns="36576" bIns="36576" anchor="t">
            <a:spAutoFit/>
          </a:bodyPr>
          <a:lstStyle/>
          <a:p>
            <a:pPr>
              <a:defRPr sz="1600" b="1" i="0">
                <a:solidFill>
                  <a:srgbClr val="142F27"/>
                </a:solidFill>
                <a:latin typeface="Aptos"/>
              </a:defRPr>
            </a:pPr>
            <a:r>
              <a:t>Current limitations</a:t>
            </a:r>
          </a:p>
        </p:txBody>
      </p:sp>
      <p:sp>
        <p:nvSpPr>
          <p:cNvPr id="9" name="TextBox 8"/>
          <p:cNvSpPr txBox="1"/>
          <p:nvPr/>
        </p:nvSpPr>
        <p:spPr>
          <a:xfrm>
            <a:off x="758952" y="1755648"/>
            <a:ext cx="5038344" cy="3858768"/>
          </a:xfrm>
          <a:prstGeom prst="rect">
            <a:avLst/>
          </a:prstGeom>
          <a:noFill/>
        </p:spPr>
        <p:txBody>
          <a:bodyPr wrap="square" lIns="36576" rIns="36576" tIns="36576" bIns="36576" anchor="t">
            <a:spAutoFit/>
          </a:bodyPr>
          <a:lstStyle/>
          <a:p>
            <a:pPr>
              <a:defRPr sz="1300" b="0" i="0">
                <a:solidFill>
                  <a:srgbClr val="27342F"/>
                </a:solidFill>
                <a:latin typeface="Aptos"/>
              </a:defRPr>
            </a:pPr>
            <a:r>
              <a:t>• Small dataset and only six categories</a:t>
            </a:r>
            <a:br/>
            <a:r>
              <a:t>• Lower accuracy on cluttered or unusual photos</a:t>
            </a:r>
            <a:br/>
            <a:r>
              <a:t>• One main item per image; no pile sorting</a:t>
            </a:r>
            <a:br/>
            <a:r>
              <a:t>• Bin colours and recycling rules vary by location</a:t>
            </a:r>
            <a:br/>
            <a:r>
              <a:t>• CO₂ savings are illustrative estimates</a:t>
            </a:r>
            <a:br/>
            <a:r>
              <a:t>• Tokens do not expire; no HTTPS or login rate limiting</a:t>
            </a:r>
            <a:br/>
            <a:r>
              <a:t>• SQLite is intended for prototype scale</a:t>
            </a:r>
            <a:br/>
            <a:r>
              <a:t>• No automated test suite yet</a:t>
            </a:r>
          </a:p>
        </p:txBody>
      </p:sp>
      <p:sp>
        <p:nvSpPr>
          <p:cNvPr id="10" name="Rounded Rectangle 9"/>
          <p:cNvSpPr/>
          <p:nvPr/>
        </p:nvSpPr>
        <p:spPr>
          <a:xfrm>
            <a:off x="6263640" y="1234440"/>
            <a:ext cx="5349240" cy="448056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280160"/>
            <a:ext cx="64008" cy="4389120"/>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1" y="1371600"/>
            <a:ext cx="5074920" cy="347472"/>
          </a:xfrm>
          <a:prstGeom prst="rect">
            <a:avLst/>
          </a:prstGeom>
          <a:noFill/>
        </p:spPr>
        <p:txBody>
          <a:bodyPr wrap="square" lIns="36576" rIns="36576" tIns="36576" bIns="36576" anchor="t">
            <a:spAutoFit/>
          </a:bodyPr>
          <a:lstStyle/>
          <a:p>
            <a:pPr>
              <a:defRPr sz="1600" b="1" i="0">
                <a:solidFill>
                  <a:srgbClr val="142F27"/>
                </a:solidFill>
                <a:latin typeface="Aptos"/>
              </a:defRPr>
            </a:pPr>
            <a:r>
              <a:t>Future enhancements</a:t>
            </a:r>
          </a:p>
        </p:txBody>
      </p:sp>
      <p:sp>
        <p:nvSpPr>
          <p:cNvPr id="13" name="TextBox 12"/>
          <p:cNvSpPr txBox="1"/>
          <p:nvPr/>
        </p:nvSpPr>
        <p:spPr>
          <a:xfrm>
            <a:off x="6428231" y="1755648"/>
            <a:ext cx="5038344" cy="3858768"/>
          </a:xfrm>
          <a:prstGeom prst="rect">
            <a:avLst/>
          </a:prstGeom>
          <a:noFill/>
        </p:spPr>
        <p:txBody>
          <a:bodyPr wrap="square" lIns="36576" rIns="36576" tIns="36576" bIns="36576" anchor="t">
            <a:spAutoFit/>
          </a:bodyPr>
          <a:lstStyle/>
          <a:p>
            <a:pPr>
              <a:defRPr sz="1300" b="0" i="0">
                <a:solidFill>
                  <a:srgbClr val="27342F"/>
                </a:solidFill>
                <a:latin typeface="Aptos"/>
              </a:defRPr>
            </a:pPr>
            <a:r>
              <a:t>• Add more real-world data and datasets such as TACO</a:t>
            </a:r>
            <a:br/>
            <a:r>
              <a:t>• Detect and classify multiple objects in one image</a:t>
            </a:r>
            <a:br/>
            <a:r>
              <a:t>• Add mobile camera capture and a mobile app</a:t>
            </a:r>
            <a:br/>
            <a:r>
              <a:t>• Extend categories to e-waste, organic and hazardous waste</a:t>
            </a:r>
            <a:br/>
            <a:r>
              <a:t>• Add Grad-CAM visual explanations</a:t>
            </a:r>
            <a:br/>
            <a:r>
              <a:t>• Improve security with token expiry, HTTPS and rate limiting</a:t>
            </a:r>
            <a:br/>
            <a:r>
              <a:t>• Use a production database and Docker deployment</a:t>
            </a:r>
            <a:br/>
            <a:r>
              <a:t>• Add automated unit and integration tests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F27"/>
        </a:solidFill>
        <a:effectLst/>
      </p:bgPr>
    </p:bg>
    <p:spTree>
      <p:nvGrpSpPr>
        <p:cNvPr id="1" name=""/>
        <p:cNvGrpSpPr/>
        <p:nvPr/>
      </p:nvGrpSpPr>
      <p:grpSpPr/>
      <p:sp>
        <p:nvSpPr>
          <p:cNvPr id="2" name="Rounded Rectangle 1"/>
          <p:cNvSpPr/>
          <p:nvPr/>
        </p:nvSpPr>
        <p:spPr>
          <a:xfrm>
            <a:off x="777240" y="685800"/>
            <a:ext cx="1417320" cy="310896"/>
          </a:xfrm>
          <a:prstGeom prst="roundRect">
            <a:avLst/>
          </a:prstGeom>
          <a:solidFill>
            <a:srgbClr val="275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708660"/>
            <a:ext cx="1362456" cy="237744"/>
          </a:xfrm>
          <a:prstGeom prst="rect">
            <a:avLst/>
          </a:prstGeom>
          <a:noFill/>
        </p:spPr>
        <p:txBody>
          <a:bodyPr wrap="square" lIns="36576" rIns="36576" tIns="36576" bIns="36576" anchor="ctr">
            <a:spAutoFit/>
          </a:bodyPr>
          <a:lstStyle/>
          <a:p>
            <a:pPr algn="ctr">
              <a:defRPr sz="1000" b="1" i="0">
                <a:solidFill>
                  <a:srgbClr val="AFD775"/>
                </a:solidFill>
                <a:latin typeface="Aptos"/>
              </a:defRPr>
            </a:pPr>
            <a:r>
              <a:t>CONCLUSION</a:t>
            </a:r>
          </a:p>
        </p:txBody>
      </p:sp>
      <p:sp>
        <p:nvSpPr>
          <p:cNvPr id="4" name="TextBox 3"/>
          <p:cNvSpPr txBox="1"/>
          <p:nvPr/>
        </p:nvSpPr>
        <p:spPr>
          <a:xfrm>
            <a:off x="777240" y="1234440"/>
            <a:ext cx="9875520" cy="731520"/>
          </a:xfrm>
          <a:prstGeom prst="rect">
            <a:avLst/>
          </a:prstGeom>
          <a:noFill/>
        </p:spPr>
        <p:txBody>
          <a:bodyPr wrap="square" lIns="36576" rIns="36576" tIns="36576" bIns="36576" anchor="t">
            <a:spAutoFit/>
          </a:bodyPr>
          <a:lstStyle/>
          <a:p>
            <a:pPr>
              <a:defRPr sz="3600" b="1" i="0">
                <a:solidFill>
                  <a:srgbClr val="FFFFFF"/>
                </a:solidFill>
                <a:latin typeface="Aptos"/>
              </a:defRPr>
            </a:pPr>
            <a:r>
              <a:t>EcoSort AI</a:t>
            </a:r>
          </a:p>
        </p:txBody>
      </p:sp>
      <p:sp>
        <p:nvSpPr>
          <p:cNvPr id="5" name="TextBox 4"/>
          <p:cNvSpPr txBox="1"/>
          <p:nvPr/>
        </p:nvSpPr>
        <p:spPr>
          <a:xfrm>
            <a:off x="822960" y="2057400"/>
            <a:ext cx="9784080" cy="914400"/>
          </a:xfrm>
          <a:prstGeom prst="rect">
            <a:avLst/>
          </a:prstGeom>
          <a:noFill/>
        </p:spPr>
        <p:txBody>
          <a:bodyPr wrap="square" lIns="36576" rIns="36576" tIns="36576" bIns="36576" anchor="t">
            <a:spAutoFit/>
          </a:bodyPr>
          <a:lstStyle/>
          <a:p>
            <a:pPr>
              <a:defRPr sz="2100" b="1" i="0">
                <a:solidFill>
                  <a:srgbClr val="DCEFE2"/>
                </a:solidFill>
                <a:latin typeface="Aptos"/>
              </a:defRPr>
            </a:pPr>
            <a:r>
              <a:t>A complete machine-learning application—from image dataset and model training to a secure web interface and personal analytics.</a:t>
            </a:r>
          </a:p>
        </p:txBody>
      </p:sp>
      <p:sp>
        <p:nvSpPr>
          <p:cNvPr id="6" name="Rounded Rectangle 5"/>
          <p:cNvSpPr/>
          <p:nvPr/>
        </p:nvSpPr>
        <p:spPr>
          <a:xfrm>
            <a:off x="822960" y="3429000"/>
            <a:ext cx="3200400" cy="128016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3474720"/>
            <a:ext cx="64008" cy="1188719"/>
          </a:xfrm>
          <a:prstGeom prst="rect">
            <a:avLst/>
          </a:prstGeom>
          <a:solidFill>
            <a:srgbClr val="237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3566160"/>
            <a:ext cx="29260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AI performance</a:t>
            </a:r>
          </a:p>
        </p:txBody>
      </p:sp>
      <p:sp>
        <p:nvSpPr>
          <p:cNvPr id="9" name="TextBox 8"/>
          <p:cNvSpPr txBox="1"/>
          <p:nvPr/>
        </p:nvSpPr>
        <p:spPr>
          <a:xfrm>
            <a:off x="987552" y="3950208"/>
            <a:ext cx="2889504" cy="658367"/>
          </a:xfrm>
          <a:prstGeom prst="rect">
            <a:avLst/>
          </a:prstGeom>
          <a:noFill/>
        </p:spPr>
        <p:txBody>
          <a:bodyPr wrap="square" lIns="36576" rIns="36576" tIns="36576" bIns="36576" anchor="t">
            <a:spAutoFit/>
          </a:bodyPr>
          <a:lstStyle/>
          <a:p>
            <a:pPr>
              <a:defRPr sz="1200" b="0" i="0">
                <a:solidFill>
                  <a:srgbClr val="27342F"/>
                </a:solidFill>
                <a:latin typeface="Aptos"/>
              </a:defRPr>
            </a:pPr>
            <a:r>
              <a:t>Accuracy improved from 84.2% to 92.1%.</a:t>
            </a:r>
          </a:p>
        </p:txBody>
      </p:sp>
      <p:sp>
        <p:nvSpPr>
          <p:cNvPr id="10" name="Rounded Rectangle 9"/>
          <p:cNvSpPr/>
          <p:nvPr/>
        </p:nvSpPr>
        <p:spPr>
          <a:xfrm>
            <a:off x="4480560" y="3429000"/>
            <a:ext cx="3200400" cy="128016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3474720"/>
            <a:ext cx="64008" cy="1188719"/>
          </a:xfrm>
          <a:prstGeom prst="rect">
            <a:avLst/>
          </a:prstGeom>
          <a:solidFill>
            <a:srgbClr val="AFD7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3566160"/>
            <a:ext cx="29260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User experience</a:t>
            </a:r>
          </a:p>
        </p:txBody>
      </p:sp>
      <p:sp>
        <p:nvSpPr>
          <p:cNvPr id="13" name="TextBox 12"/>
          <p:cNvSpPr txBox="1"/>
          <p:nvPr/>
        </p:nvSpPr>
        <p:spPr>
          <a:xfrm>
            <a:off x="4645152" y="3950208"/>
            <a:ext cx="2889504" cy="658367"/>
          </a:xfrm>
          <a:prstGeom prst="rect">
            <a:avLst/>
          </a:prstGeom>
          <a:noFill/>
        </p:spPr>
        <p:txBody>
          <a:bodyPr wrap="square" lIns="36576" rIns="36576" tIns="36576" bIns="36576" anchor="t">
            <a:spAutoFit/>
          </a:bodyPr>
          <a:lstStyle/>
          <a:p>
            <a:pPr>
              <a:defRPr sz="1200" b="0" i="0">
                <a:solidFill>
                  <a:srgbClr val="27342F"/>
                </a:solidFill>
                <a:latin typeface="Aptos"/>
              </a:defRPr>
            </a:pPr>
            <a:r>
              <a:t>Classification, disposal guidance, history and dashboard.</a:t>
            </a:r>
          </a:p>
        </p:txBody>
      </p:sp>
      <p:sp>
        <p:nvSpPr>
          <p:cNvPr id="14" name="Rounded Rectangle 13"/>
          <p:cNvSpPr/>
          <p:nvPr/>
        </p:nvSpPr>
        <p:spPr>
          <a:xfrm>
            <a:off x="8138160" y="3429000"/>
            <a:ext cx="3200400" cy="1280160"/>
          </a:xfrm>
          <a:prstGeom prst="roundRect">
            <a:avLst/>
          </a:prstGeom>
          <a:solidFill>
            <a:srgbClr val="FFFFFF"/>
          </a:solidFill>
          <a:ln>
            <a:solidFill>
              <a:srgbClr val="D7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3474720"/>
            <a:ext cx="64008" cy="1188719"/>
          </a:xfrm>
          <a:prstGeom prst="rect">
            <a:avLst/>
          </a:prstGeom>
          <a:solidFill>
            <a:srgbClr val="E6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3566160"/>
            <a:ext cx="2926080" cy="347472"/>
          </a:xfrm>
          <a:prstGeom prst="rect">
            <a:avLst/>
          </a:prstGeom>
          <a:noFill/>
        </p:spPr>
        <p:txBody>
          <a:bodyPr wrap="square" lIns="36576" rIns="36576" tIns="36576" bIns="36576" anchor="t">
            <a:spAutoFit/>
          </a:bodyPr>
          <a:lstStyle/>
          <a:p>
            <a:pPr>
              <a:defRPr sz="1500" b="1" i="0">
                <a:solidFill>
                  <a:srgbClr val="142F27"/>
                </a:solidFill>
                <a:latin typeface="Aptos"/>
              </a:defRPr>
            </a:pPr>
            <a:r>
              <a:t>Responsible evaluation</a:t>
            </a:r>
          </a:p>
        </p:txBody>
      </p:sp>
      <p:sp>
        <p:nvSpPr>
          <p:cNvPr id="17" name="TextBox 16"/>
          <p:cNvSpPr txBox="1"/>
          <p:nvPr/>
        </p:nvSpPr>
        <p:spPr>
          <a:xfrm>
            <a:off x="8302752" y="3950208"/>
            <a:ext cx="2889504" cy="658367"/>
          </a:xfrm>
          <a:prstGeom prst="rect">
            <a:avLst/>
          </a:prstGeom>
          <a:noFill/>
        </p:spPr>
        <p:txBody>
          <a:bodyPr wrap="square" lIns="36576" rIns="36576" tIns="36576" bIns="36576" anchor="t">
            <a:spAutoFit/>
          </a:bodyPr>
          <a:lstStyle/>
          <a:p>
            <a:pPr>
              <a:defRPr sz="1200" b="0" i="0">
                <a:solidFill>
                  <a:srgbClr val="27342F"/>
                </a:solidFill>
                <a:latin typeface="Aptos"/>
              </a:defRPr>
            </a:pPr>
            <a:r>
              <a:t>Low-confidence warning and documented limitations.</a:t>
            </a:r>
          </a:p>
        </p:txBody>
      </p:sp>
      <p:sp>
        <p:nvSpPr>
          <p:cNvPr id="18" name="TextBox 17"/>
          <p:cNvSpPr txBox="1"/>
          <p:nvPr/>
        </p:nvSpPr>
        <p:spPr>
          <a:xfrm>
            <a:off x="822960" y="5303520"/>
            <a:ext cx="10515600" cy="502920"/>
          </a:xfrm>
          <a:prstGeom prst="rect">
            <a:avLst/>
          </a:prstGeom>
          <a:noFill/>
        </p:spPr>
        <p:txBody>
          <a:bodyPr wrap="square" lIns="36576" rIns="36576" tIns="36576" bIns="36576" anchor="t">
            <a:spAutoFit/>
          </a:bodyPr>
          <a:lstStyle/>
          <a:p>
            <a:pPr algn="ctr">
              <a:defRPr sz="2800" b="1" i="0">
                <a:solidFill>
                  <a:srgbClr val="FFFFFF"/>
                </a:solidFill>
                <a:latin typeface="Aptos"/>
              </a:defRPr>
            </a:pPr>
            <a:r>
              <a:t>Thank you</a:t>
            </a:r>
          </a:p>
        </p:txBody>
      </p:sp>
      <p:sp>
        <p:nvSpPr>
          <p:cNvPr id="19" name="TextBox 18"/>
          <p:cNvSpPr txBox="1"/>
          <p:nvPr/>
        </p:nvSpPr>
        <p:spPr>
          <a:xfrm>
            <a:off x="822960" y="5852160"/>
            <a:ext cx="10515600" cy="320040"/>
          </a:xfrm>
          <a:prstGeom prst="rect">
            <a:avLst/>
          </a:prstGeom>
          <a:noFill/>
        </p:spPr>
        <p:txBody>
          <a:bodyPr wrap="square" lIns="36576" rIns="36576" tIns="36576" bIns="36576" anchor="t">
            <a:spAutoFit/>
          </a:bodyPr>
          <a:lstStyle/>
          <a:p>
            <a:pPr algn="ctr">
              <a:defRPr sz="1500" b="0" i="0">
                <a:solidFill>
                  <a:srgbClr val="AFD775"/>
                </a:solidFill>
                <a:latin typeface="Aptos"/>
              </a:defRPr>
            </a:pPr>
            <a:r>
              <a:t>Questions?</a:t>
            </a:r>
          </a:p>
        </p:txBody>
      </p:sp>
      <p:sp>
        <p:nvSpPr>
          <p:cNvPr id="20" name="TextBox 19"/>
          <p:cNvSpPr txBox="1"/>
          <p:nvPr/>
        </p:nvSpPr>
        <p:spPr>
          <a:xfrm>
            <a:off x="11292840" y="6510528"/>
            <a:ext cx="411480" cy="182880"/>
          </a:xfrm>
          <a:prstGeom prst="rect">
            <a:avLst/>
          </a:prstGeom>
          <a:noFill/>
        </p:spPr>
        <p:txBody>
          <a:bodyPr wrap="square" lIns="36576" rIns="36576" tIns="36576" bIns="36576" anchor="t">
            <a:spAutoFit/>
          </a:bodyPr>
          <a:lstStyle/>
          <a:p>
            <a:pPr algn="r">
              <a:defRPr sz="900" b="0" i="0">
                <a:solidFill>
                  <a:srgbClr val="D5E2DA"/>
                </a:solidFill>
                <a:latin typeface="Aptos"/>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